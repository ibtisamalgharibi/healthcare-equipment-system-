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0" charset="0"/>
        <a:cs typeface="Arial" pitchFamily="34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0" charset="0"/>
        <a:cs typeface="Arial" pitchFamily="34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0" charset="0"/>
        <a:cs typeface="Arial" pitchFamily="34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0" charset="0"/>
        <a:cs typeface="Arial" pitchFamily="34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0" charset="0"/>
        <a:cs typeface="Arial" pitchFamily="34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0" charset="0"/>
        <a:cs typeface="Arial" pitchFamily="34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0" charset="0"/>
        <a:cs typeface="Arial" pitchFamily="34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0" charset="0"/>
        <a:cs typeface="Arial" pitchFamily="34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0" charset="0"/>
        <a:cs typeface="Arial" pitchFamily="34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 autoAdjust="0"/>
    <p:restoredTop sz="99500" autoAdjust="0"/>
  </p:normalViewPr>
  <p:slideViewPr>
    <p:cSldViewPr snapToGrid="0" snapToObjects="1">
      <p:cViewPr varScale="1">
        <p:scale>
          <a:sx n="84" d="100"/>
          <a:sy n="84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076288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r" defTabSz="914400" eaLnBrk="0" fontAlgn="base" hangingPunct="0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pitchFamily="0" charset="0"/>
        <a:cs typeface="Calibri" pitchFamily="34" charset="0"/>
      </a:defRPr>
    </a:lvl1pPr>
    <a:lvl2pPr marL="457200" indent="0" algn="r" defTabSz="914400" eaLnBrk="0" fontAlgn="base" hangingPunct="0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pitchFamily="0" charset="0"/>
        <a:cs typeface="Calibri" pitchFamily="34" charset="0"/>
      </a:defRPr>
    </a:lvl2pPr>
    <a:lvl3pPr marL="914400" indent="0" algn="r" defTabSz="914400" eaLnBrk="0" fontAlgn="base" hangingPunct="0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pitchFamily="0" charset="0"/>
        <a:cs typeface="Calibri" pitchFamily="34" charset="0"/>
      </a:defRPr>
    </a:lvl3pPr>
    <a:lvl4pPr marL="1371600" indent="0" algn="r" defTabSz="914400" eaLnBrk="0" fontAlgn="base" hangingPunct="0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pitchFamily="0" charset="0"/>
        <a:cs typeface="Calibri" pitchFamily="34" charset="0"/>
      </a:defRPr>
    </a:lvl4pPr>
    <a:lvl5pPr marL="1828800" indent="0" algn="r" defTabSz="914400" eaLnBrk="0" fontAlgn="base" hangingPunct="0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pitchFamily="0" charset="0"/>
        <a:cs typeface="Calibri" pitchFamily="34" charset="0"/>
      </a:defRPr>
    </a:lvl5pPr>
    <a:lvl6pPr marL="2286000" indent="0" algn="r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pitchFamily="0" charset="0"/>
        <a:cs typeface="Calibri" pitchFamily="34" charset="0"/>
      </a:defRPr>
    </a:lvl6pPr>
    <a:lvl7pPr marL="2743200" indent="0" algn="r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pitchFamily="0" charset="0"/>
        <a:cs typeface="Calibri" pitchFamily="34" charset="0"/>
      </a:defRPr>
    </a:lvl7pPr>
    <a:lvl8pPr marL="3200400" indent="0" algn="r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pitchFamily="0" charset="0"/>
        <a:cs typeface="Calibri" pitchFamily="34" charset="0"/>
      </a:defRPr>
    </a:lvl8pPr>
    <a:lvl9pPr marL="3200400" indent="0" algn="r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pitchFamily="0" charset="0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"/>
          <p:cNvSpPr>
            <a:spLocks noGrp="1" noChangeAspect="1"/>
          </p:cNvSpPr>
          <p:nvPr>
            <p:ph type="sldImg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7" name="Text box"/>
          <p:cNvSpPr>
            <a:spLocks noGrp="1"/>
          </p:cNvSpPr>
          <p:nvPr>
            <p:ph type="body" idx="1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8" name="Rectangle"/>
          <p:cNvSpPr>
            <a:spLocks noGrp="1"/>
          </p:cNvSpPr>
          <p:nvPr>
            <p:ph type="sldNum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eaLnBrk="1" hangingPunct="1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Arial" pitchFamily="34" charset="0"/>
              </a:rPr>
              <a:t>1</a:t>
            </a:fld>
            <a:endParaRPr lang="zh-CN" altLang="en-US">
              <a:solidFill>
                <a:schemeClr val="tx1"/>
              </a:solidFill>
              <a:latin typeface="Calibri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791603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bject"/>
          <p:cNvSpPr>
            <a:spLocks noGrp="1" noChangeAspect="1"/>
          </p:cNvSpPr>
          <p:nvPr>
            <p:ph type="sldImg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9" name="Text box"/>
          <p:cNvSpPr>
            <a:spLocks noGrp="1"/>
          </p:cNvSpPr>
          <p:nvPr>
            <p:ph type="body" idx="1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60" name="Rectangle"/>
          <p:cNvSpPr>
            <a:spLocks noGrp="1"/>
          </p:cNvSpPr>
          <p:nvPr>
            <p:ph type="sldNum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eaLnBrk="1" hangingPunct="1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Arial" pitchFamily="34" charset="0"/>
              </a:rPr>
              <a:t>2</a:t>
            </a:fld>
            <a:endParaRPr lang="zh-CN" altLang="en-US">
              <a:solidFill>
                <a:schemeClr val="tx1"/>
              </a:solidFill>
              <a:latin typeface="Calibri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885267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bject"/>
          <p:cNvSpPr>
            <a:spLocks noGrp="1" noChangeAspect="1"/>
          </p:cNvSpPr>
          <p:nvPr>
            <p:ph type="sldImg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6" name="Text box"/>
          <p:cNvSpPr>
            <a:spLocks noGrp="1"/>
          </p:cNvSpPr>
          <p:nvPr>
            <p:ph type="body" idx="1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97" name="Rectangle"/>
          <p:cNvSpPr>
            <a:spLocks noGrp="1"/>
          </p:cNvSpPr>
          <p:nvPr>
            <p:ph type="sldNum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eaLnBrk="1" hangingPunct="1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Arial" pitchFamily="34" charset="0"/>
              </a:rPr>
              <a:t>3</a:t>
            </a:fld>
            <a:endParaRPr lang="zh-CN" altLang="en-US">
              <a:solidFill>
                <a:schemeClr val="tx1"/>
              </a:solidFill>
              <a:latin typeface="Calibri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80751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Object"/>
          <p:cNvSpPr>
            <a:spLocks noGrp="1" noChangeAspect="1"/>
          </p:cNvSpPr>
          <p:nvPr>
            <p:ph type="sldImg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22" name="Text box"/>
          <p:cNvSpPr>
            <a:spLocks noGrp="1"/>
          </p:cNvSpPr>
          <p:nvPr>
            <p:ph type="body" idx="1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23" name="Rectangle"/>
          <p:cNvSpPr>
            <a:spLocks noGrp="1"/>
          </p:cNvSpPr>
          <p:nvPr>
            <p:ph type="sldNum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eaLnBrk="1" hangingPunct="1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Arial" pitchFamily="34" charset="0"/>
              </a:rPr>
              <a:t>4</a:t>
            </a:fld>
            <a:endParaRPr lang="zh-CN" altLang="en-US">
              <a:solidFill>
                <a:schemeClr val="tx1"/>
              </a:solidFill>
              <a:latin typeface="Calibri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009725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Object"/>
          <p:cNvSpPr>
            <a:spLocks noGrp="1" noChangeAspect="1"/>
          </p:cNvSpPr>
          <p:nvPr>
            <p:ph type="sldImg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41" name="Text box"/>
          <p:cNvSpPr>
            <a:spLocks noGrp="1"/>
          </p:cNvSpPr>
          <p:nvPr>
            <p:ph type="body" idx="1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42" name="Rectangle"/>
          <p:cNvSpPr>
            <a:spLocks noGrp="1"/>
          </p:cNvSpPr>
          <p:nvPr>
            <p:ph type="sldNum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eaLnBrk="1" hangingPunct="1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Arial" pitchFamily="34" charset="0"/>
              </a:rPr>
              <a:t>6</a:t>
            </a:fld>
            <a:endParaRPr lang="zh-CN" altLang="en-US">
              <a:solidFill>
                <a:schemeClr val="tx1"/>
              </a:solidFill>
              <a:latin typeface="Calibri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814049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Object"/>
          <p:cNvSpPr>
            <a:spLocks noGrp="1" noChangeAspect="1"/>
          </p:cNvSpPr>
          <p:nvPr>
            <p:ph type="sldImg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3" name="Text box"/>
          <p:cNvSpPr>
            <a:spLocks noGrp="1"/>
          </p:cNvSpPr>
          <p:nvPr>
            <p:ph type="body" idx="1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84" name="Rectangle"/>
          <p:cNvSpPr>
            <a:spLocks noGrp="1"/>
          </p:cNvSpPr>
          <p:nvPr>
            <p:ph type="sldNum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eaLnBrk="1" hangingPunct="1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Arial" pitchFamily="34" charset="0"/>
              </a:rPr>
              <a:t>8</a:t>
            </a:fld>
            <a:endParaRPr lang="zh-CN" altLang="en-US">
              <a:solidFill>
                <a:schemeClr val="tx1"/>
              </a:solidFill>
              <a:latin typeface="Calibri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535511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Object"/>
          <p:cNvSpPr>
            <a:spLocks noGrp="1" noChangeAspect="1"/>
          </p:cNvSpPr>
          <p:nvPr>
            <p:ph type="sldImg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16" name="Text box"/>
          <p:cNvSpPr>
            <a:spLocks noGrp="1"/>
          </p:cNvSpPr>
          <p:nvPr>
            <p:ph type="body" idx="1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17" name="Rectangle"/>
          <p:cNvSpPr>
            <a:spLocks noGrp="1"/>
          </p:cNvSpPr>
          <p:nvPr>
            <p:ph type="sldNum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eaLnBrk="1" hangingPunct="1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Arial" pitchFamily="34" charset="0"/>
              </a:rPr>
              <a:t>9</a:t>
            </a:fld>
            <a:endParaRPr lang="zh-CN" altLang="en-US">
              <a:solidFill>
                <a:schemeClr val="tx1"/>
              </a:solidFill>
              <a:latin typeface="Calibri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78489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Object"/>
          <p:cNvSpPr>
            <a:spLocks noGrp="1" noChangeAspect="1"/>
          </p:cNvSpPr>
          <p:nvPr>
            <p:ph type="sldImg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40" name="Text box"/>
          <p:cNvSpPr>
            <a:spLocks noGrp="1"/>
          </p:cNvSpPr>
          <p:nvPr>
            <p:ph type="body" idx="1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41" name="Rectangle"/>
          <p:cNvSpPr>
            <a:spLocks noGrp="1"/>
          </p:cNvSpPr>
          <p:nvPr>
            <p:ph type="sldNum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eaLnBrk="1" hangingPunct="1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Arial" pitchFamily="34" charset="0"/>
              </a:rPr>
              <a:t>10</a:t>
            </a:fld>
            <a:endParaRPr lang="zh-CN" altLang="en-US">
              <a:solidFill>
                <a:schemeClr val="tx1"/>
              </a:solidFill>
              <a:latin typeface="Calibri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330304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Object"/>
          <p:cNvSpPr>
            <a:spLocks noGrp="1" noChangeAspect="1"/>
          </p:cNvSpPr>
          <p:nvPr>
            <p:ph type="sldImg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1" name="Text box"/>
          <p:cNvSpPr>
            <a:spLocks noGrp="1"/>
          </p:cNvSpPr>
          <p:nvPr>
            <p:ph type="body" idx="1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62" name="Rectangle"/>
          <p:cNvSpPr>
            <a:spLocks noGrp="1"/>
          </p:cNvSpPr>
          <p:nvPr>
            <p:ph type="sldNum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eaLnBrk="1" hangingPunct="1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Arial" pitchFamily="34" charset="0"/>
              </a:rPr>
              <a:t>11</a:t>
            </a:fld>
            <a:endParaRPr lang="zh-CN" altLang="en-US">
              <a:solidFill>
                <a:schemeClr val="tx1"/>
              </a:solidFill>
              <a:latin typeface="Calibri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794576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Object"/>
          <p:cNvSpPr>
            <a:spLocks noGrp="1" noChangeAspect="1"/>
          </p:cNvSpPr>
          <p:nvPr>
            <p:ph type="sldImg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07" name="Text box"/>
          <p:cNvSpPr>
            <a:spLocks noGrp="1"/>
          </p:cNvSpPr>
          <p:nvPr>
            <p:ph type="body" idx="1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08" name="Rectangle"/>
          <p:cNvSpPr>
            <a:spLocks noGrp="1"/>
          </p:cNvSpPr>
          <p:nvPr>
            <p:ph type="sldNum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eaLnBrk="1" hangingPunct="1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Arial" pitchFamily="34" charset="0"/>
              </a:rPr>
              <a:t>12</a:t>
            </a:fld>
            <a:endParaRPr lang="zh-CN" altLang="en-US">
              <a:solidFill>
                <a:schemeClr val="tx1"/>
              </a:solidFill>
              <a:latin typeface="Calibri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082626"/>
      </p:ext>
    </p:extLst>
  </p:cSld>
  <p:clrMapOvr>
    <a:masterClrMapping/>
  </p:clrMapOvr>
</p:notes>
</file>

<file path=ppt/notesSlides/notesSlide1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Object"/>
          <p:cNvSpPr>
            <a:spLocks noGrp="1" noChangeAspect="1"/>
          </p:cNvSpPr>
          <p:nvPr>
            <p:ph type="sldImg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41" name="Text box"/>
          <p:cNvSpPr>
            <a:spLocks noGrp="1"/>
          </p:cNvSpPr>
          <p:nvPr>
            <p:ph type="body" idx="1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42" name="Rectangle"/>
          <p:cNvSpPr>
            <a:spLocks noGrp="1"/>
          </p:cNvSpPr>
          <p:nvPr>
            <p:ph type="sldNum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eaLnBrk="1" hangingPunct="1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Arial" pitchFamily="34" charset="0"/>
              </a:rPr>
              <a:t>13</a:t>
            </a:fld>
            <a:endParaRPr lang="zh-CN" altLang="en-US">
              <a:solidFill>
                <a:schemeClr val="tx1"/>
              </a:solidFill>
              <a:latin typeface="Calibri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341740"/>
      </p:ext>
    </p:extLst>
  </p:cSld>
  <p:clrMapOvr>
    <a:masterClrMapping/>
  </p:clrMapOvr>
</p:notes>
</file>

<file path=ppt/notesSlides/notesSlide1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Object"/>
          <p:cNvSpPr>
            <a:spLocks noGrp="1" noChangeAspect="1"/>
          </p:cNvSpPr>
          <p:nvPr>
            <p:ph type="sldImg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68" name="Text box"/>
          <p:cNvSpPr>
            <a:spLocks noGrp="1"/>
          </p:cNvSpPr>
          <p:nvPr>
            <p:ph type="body" idx="1"/>
          </p:nvPr>
        </p:nvSpPr>
        <p:spPr>
          <a:xfrm rot="0">
            <a:off x="-2147483648" y="-2147483648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69" name="Rectangle"/>
          <p:cNvSpPr>
            <a:spLocks noGrp="1"/>
          </p:cNvSpPr>
          <p:nvPr>
            <p:ph type="sldNum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eaLnBrk="1" hangingPunct="1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Arial" pitchFamily="34" charset="0"/>
              </a:rPr>
              <a:t>14</a:t>
            </a:fld>
            <a:endParaRPr lang="zh-CN" altLang="en-US">
              <a:solidFill>
                <a:schemeClr val="tx1"/>
              </a:solidFill>
              <a:latin typeface="Calibri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085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93291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611577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096144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4635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728302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598827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938731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89719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753599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310310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198235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639161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 rot="0">
            <a:off x="838200" y="365124"/>
            <a:ext cx="10515600" cy="13255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 rot="0">
            <a:off x="838200" y="1825625"/>
            <a:ext cx="10515600" cy="435133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idx="2"/>
          </p:nvPr>
        </p:nvSpPr>
        <p:spPr>
          <a:xfrm rot="0">
            <a:off x="838200" y="6356349"/>
            <a:ext cx="27432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34" charset="0"/>
                <a:ea typeface="宋体" pitchFamily="0" charset="0"/>
                <a:cs typeface="Arial" pitchFamily="34" charset="0"/>
              </a:rPr>
              <a:t>8/5/2026</a:t>
            </a:fld>
            <a:endParaRPr lang="zh-CN" altLang="en-US" sz="1200">
              <a:solidFill>
                <a:srgbClr val="898989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5" name="Text box"/>
          <p:cNvSpPr>
            <a:spLocks noGrp="1"/>
          </p:cNvSpPr>
          <p:nvPr>
            <p:ph type="ftr" idx="3"/>
          </p:nvPr>
        </p:nvSpPr>
        <p:spPr>
          <a:xfrm rot="0">
            <a:off x="4038600" y="6356349"/>
            <a:ext cx="41148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sldNum" idx="4"/>
          </p:nvPr>
        </p:nvSpPr>
        <p:spPr>
          <a:xfrm rot="0">
            <a:off x="8610600" y="6356349"/>
            <a:ext cx="27432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34" charset="0"/>
                <a:ea typeface="宋体" pitchFamily="0" charset="0"/>
                <a:cs typeface="Arial" pitchFamily="34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237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eaLnBrk="0" fontAlgn="base" hangingPunct="0">
        <a:lnSpc>
          <a:spcPct val="90000"/>
        </a:lnSpc>
        <a:spcBef>
          <a:spcPts val="0"/>
        </a:spcBef>
        <a:spcAft>
          <a:spcPts val="0"/>
        </a:spcAft>
        <a:buNone/>
        <a:defRPr sz="4400" kern="1200">
          <a:solidFill>
            <a:schemeClr val="tx1"/>
          </a:solidFill>
          <a:latin typeface="Calibri Light" pitchFamily="0" charset="0"/>
          <a:ea typeface="宋体" pitchFamily="0" charset="0"/>
          <a:cs typeface="Calibri Light" pitchFamily="0" charset="0"/>
        </a:defRPr>
      </a:lvl1pPr>
    </p:titleStyle>
    <p:bodyStyle>
      <a:lvl1pPr marL="228600" indent="-228600" algn="r" defTabSz="914400" eaLnBrk="0" fontAlgn="base" hangingPunct="0">
        <a:lnSpc>
          <a:spcPct val="90000"/>
        </a:lnSpc>
        <a:spcBef>
          <a:spcPts val="1000"/>
        </a:spcBef>
        <a:spcAft>
          <a:spcPts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Calibri" pitchFamily="34" charset="0"/>
          <a:ea typeface="宋体" pitchFamily="0" charset="0"/>
          <a:cs typeface="Calibri" pitchFamily="34" charset="0"/>
        </a:defRPr>
      </a:lvl1pPr>
      <a:lvl2pPr marL="685800" indent="-228600" algn="r" defTabSz="914400" eaLnBrk="0" fontAlgn="base" hangingPunct="0">
        <a:lnSpc>
          <a:spcPct val="90000"/>
        </a:lnSpc>
        <a:spcBef>
          <a:spcPts val="500"/>
        </a:spcBef>
        <a:spcAft>
          <a:spcPts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宋体" pitchFamily="0" charset="0"/>
          <a:cs typeface="Calibri" pitchFamily="34" charset="0"/>
        </a:defRPr>
      </a:lvl2pPr>
      <a:lvl3pPr marL="1143000" indent="-228600" algn="r" defTabSz="914400" eaLnBrk="0" fontAlgn="base" hangingPunct="0">
        <a:lnSpc>
          <a:spcPct val="90000"/>
        </a:lnSpc>
        <a:spcBef>
          <a:spcPts val="500"/>
        </a:spcBef>
        <a:spcAft>
          <a:spcPts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宋体" pitchFamily="0" charset="0"/>
          <a:cs typeface="Calibri" pitchFamily="34" charset="0"/>
        </a:defRPr>
      </a:lvl3pPr>
      <a:lvl4pPr marL="1600200" indent="-228600" algn="r" defTabSz="914400" eaLnBrk="0" fontAlgn="base" hangingPunct="0">
        <a:lnSpc>
          <a:spcPct val="90000"/>
        </a:lnSpc>
        <a:spcBef>
          <a:spcPts val="500"/>
        </a:spcBef>
        <a:spcAft>
          <a:spcPts val="0"/>
        </a:spcAft>
        <a:buFont typeface="Arial" pitchFamily="34" charset="0"/>
        <a:buChar char="•"/>
        <a:defRPr sz="1800" kern="1200">
          <a:solidFill>
            <a:schemeClr val="tx1"/>
          </a:solidFill>
          <a:latin typeface="Calibri" pitchFamily="34" charset="0"/>
          <a:ea typeface="宋体" pitchFamily="0" charset="0"/>
          <a:cs typeface="Calibri" pitchFamily="34" charset="0"/>
        </a:defRPr>
      </a:lvl4pPr>
      <a:lvl5pPr marL="2057400" indent="-228600" algn="r" defTabSz="914400" eaLnBrk="0" fontAlgn="base" hangingPunct="0">
        <a:lnSpc>
          <a:spcPct val="90000"/>
        </a:lnSpc>
        <a:spcBef>
          <a:spcPts val="500"/>
        </a:spcBef>
        <a:spcAft>
          <a:spcPts val="0"/>
        </a:spcAft>
        <a:buFont typeface="Arial" pitchFamily="34" charset="0"/>
        <a:buChar char="•"/>
        <a:defRPr sz="1800" kern="1200">
          <a:solidFill>
            <a:schemeClr val="tx1"/>
          </a:solidFill>
          <a:latin typeface="Calibri" pitchFamily="34" charset="0"/>
          <a:ea typeface="宋体" pitchFamily="0" charset="0"/>
          <a:cs typeface="Calibri" pitchFamily="34" charset="0"/>
        </a:defRPr>
      </a:lvl5pPr>
      <a:lvl6pPr marL="2514600" indent="-228600" algn="r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34" charset="0"/>
          <a:ea typeface="宋体" pitchFamily="0" charset="0"/>
          <a:cs typeface="Calibri" pitchFamily="34" charset="0"/>
        </a:defRPr>
      </a:lvl6pPr>
      <a:lvl7pPr marL="2971800" indent="-228600" algn="r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34" charset="0"/>
          <a:ea typeface="宋体" pitchFamily="0" charset="0"/>
          <a:cs typeface="Calibri" pitchFamily="34" charset="0"/>
        </a:defRPr>
      </a:lvl7pPr>
      <a:lvl8pPr marL="3429000" indent="-228600" algn="r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34" charset="0"/>
          <a:ea typeface="宋体" pitchFamily="0" charset="0"/>
          <a:cs typeface="Calibri" pitchFamily="34" charset="0"/>
        </a:defRPr>
      </a:lvl8pPr>
      <a:lvl9pPr marL="3429000" indent="-228600" algn="r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34" charset="0"/>
          <a:ea typeface="宋体" pitchFamily="0" charset="0"/>
          <a:cs typeface="Calibri" pitchFamily="34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.png"/><Relationship Id="rId2" Type="http://schemas.openxmlformats.org/officeDocument/2006/relationships/image" Target="../media/2.png"/><Relationship Id="rId3" Type="http://schemas.openxmlformats.org/officeDocument/2006/relationships/image" Target="../media/2.png"/><Relationship Id="rId4" Type="http://schemas.openxmlformats.org/officeDocument/2006/relationships/image" Target="../media/2.png"/><Relationship Id="rId5" Type="http://schemas.openxmlformats.org/officeDocument/2006/relationships/image" Target="../media/2.png"/><Relationship Id="rId6" Type="http://schemas.openxmlformats.org/officeDocument/2006/relationships/image" Target="../media/1.pn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image" Target="../media/3.png"/><Relationship Id="rId3" Type="http://schemas.openxmlformats.org/officeDocument/2006/relationships/image" Target="../media/4.png"/><Relationship Id="rId4" Type="http://schemas.openxmlformats.org/officeDocument/2006/relationships/image" Target="../media/5.png"/><Relationship Id="rId5" Type="http://schemas.openxmlformats.org/officeDocument/2006/relationships/image" Target="../media/6.png"/><Relationship Id="rId6" Type="http://schemas.openxmlformats.org/officeDocument/2006/relationships/image" Target="../media/7.pn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8.png"/><Relationship Id="rId2" Type="http://schemas.openxmlformats.org/officeDocument/2006/relationships/image" Target="../media/9.png"/><Relationship Id="rId3" Type="http://schemas.openxmlformats.org/officeDocument/2006/relationships/image" Target="../media/10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11.png"/><Relationship Id="rId2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12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13.png"/><Relationship Id="rId2" Type="http://schemas.openxmlformats.org/officeDocument/2006/relationships/image" Target="../media/14.png"/><Relationship Id="rId3" Type="http://schemas.openxmlformats.org/officeDocument/2006/relationships/image" Target="../media/15.png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16.png"/><Relationship Id="rId2" Type="http://schemas.openxmlformats.org/officeDocument/2006/relationships/image" Target="../media/17.png"/><Relationship Id="rId3" Type="http://schemas.openxmlformats.org/officeDocument/2006/relationships/image" Target="../media/18.png"/><Relationship Id="rId4" Type="http://schemas.openxmlformats.org/officeDocument/2006/relationships/image" Target="../media/19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20.png"/><Relationship Id="rId2" Type="http://schemas.openxmlformats.org/officeDocument/2006/relationships/image" Target="../media/2.png"/><Relationship Id="rId3" Type="http://schemas.openxmlformats.org/officeDocument/2006/relationships/image" Target="../media/2.png"/><Relationship Id="rId4" Type="http://schemas.openxmlformats.org/officeDocument/2006/relationships/image" Target="../media/2.png"/><Relationship Id="rId5" Type="http://schemas.openxmlformats.org/officeDocument/2006/relationships/image" Target="../media/2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21.png"/><Relationship Id="rId2" Type="http://schemas.openxmlformats.org/officeDocument/2006/relationships/image" Target="../media/22.png"/><Relationship Id="rId3" Type="http://schemas.openxmlformats.org/officeDocument/2006/relationships/image" Target="../media/10.png"/><Relationship Id="rId4" Type="http://schemas.openxmlformats.org/officeDocument/2006/relationships/image" Target="../media/10.png"/><Relationship Id="rId5" Type="http://schemas.openxmlformats.org/officeDocument/2006/relationships/image" Target="../media/22.png"/><Relationship Id="rId6" Type="http://schemas.openxmlformats.org/officeDocument/2006/relationships/image" Target="../media/20.pn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23.png"/><Relationship Id="rId2" Type="http://schemas.openxmlformats.org/officeDocument/2006/relationships/image" Target="../media/2.png"/><Relationship Id="rId3" Type="http://schemas.openxmlformats.org/officeDocument/2006/relationships/image" Target="../media/2.png"/><Relationship Id="rId4" Type="http://schemas.openxmlformats.org/officeDocument/2006/relationships/image" Target="../media/2.png"/><Relationship Id="rId5" Type="http://schemas.openxmlformats.org/officeDocument/2006/relationships/image" Target="../media/2.png"/><Relationship Id="rId6" Type="http://schemas.openxmlformats.org/officeDocument/2006/relationships/image" Target="../media/2.png"/><Relationship Id="rId7" Type="http://schemas.openxmlformats.org/officeDocument/2006/relationships/image" Target="../media/2.png"/><Relationship Id="rId8" Type="http://schemas.openxmlformats.org/officeDocument/2006/relationships/image" Target="../media/2.png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14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"/>
          <p:cNvSpPr>
            <a:spLocks/>
          </p:cNvSpPr>
          <p:nvPr/>
        </p:nvSpPr>
        <p:spPr>
          <a:xfrm rot="0">
            <a:off x="47625" y="0"/>
            <a:ext cx="12192000" cy="6858000"/>
          </a:xfrm>
          <a:prstGeom prst="rect"/>
          <a:solidFill>
            <a:srgbClr val="21295C"/>
          </a:solidFill>
          <a:ln w="12700" cmpd="sng" cap="flat">
            <a:noFill/>
            <a:prstDash val="solid"/>
            <a:round/>
          </a:ln>
        </p:spPr>
      </p:sp>
      <p:sp>
        <p:nvSpPr>
          <p:cNvPr id="8" name="Oval"/>
          <p:cNvSpPr>
            <a:spLocks/>
          </p:cNvSpPr>
          <p:nvPr/>
        </p:nvSpPr>
        <p:spPr>
          <a:xfrm rot="0">
            <a:off x="8624888" y="-503237"/>
            <a:ext cx="4114798" cy="4114801"/>
          </a:xfrm>
          <a:prstGeom prst="ellipse"/>
          <a:solidFill>
            <a:srgbClr val="065A82">
              <a:alpha val="45000"/>
            </a:srgbClr>
          </a:solidFill>
          <a:ln w="12700" cmpd="sng" cap="flat">
            <a:noFill/>
            <a:prstDash val="solid"/>
            <a:round/>
          </a:ln>
        </p:spPr>
      </p:sp>
      <p:sp>
        <p:nvSpPr>
          <p:cNvPr id="9" name="Oval"/>
          <p:cNvSpPr>
            <a:spLocks/>
          </p:cNvSpPr>
          <p:nvPr/>
        </p:nvSpPr>
        <p:spPr>
          <a:xfrm rot="0">
            <a:off x="9902825" y="4297363"/>
            <a:ext cx="2743200" cy="2743200"/>
          </a:xfrm>
          <a:prstGeom prst="ellipse"/>
          <a:solidFill>
            <a:srgbClr val="1C7293">
              <a:alpha val="55000"/>
            </a:srgbClr>
          </a:solidFill>
          <a:ln w="12700" cmpd="sng" cap="flat">
            <a:noFill/>
            <a:prstDash val="solid"/>
            <a:round/>
          </a:ln>
        </p:spPr>
      </p:sp>
      <p:sp>
        <p:nvSpPr>
          <p:cNvPr id="10" name="Oval"/>
          <p:cNvSpPr>
            <a:spLocks/>
          </p:cNvSpPr>
          <p:nvPr/>
        </p:nvSpPr>
        <p:spPr>
          <a:xfrm rot="0">
            <a:off x="-1096963" y="4754563"/>
            <a:ext cx="3200401" cy="3200400"/>
          </a:xfrm>
          <a:prstGeom prst="ellipse"/>
          <a:solidFill>
            <a:srgbClr val="1C7293">
              <a:alpha val="40000"/>
            </a:srgbClr>
          </a:solidFill>
          <a:ln w="12700" cmpd="sng" cap="flat">
            <a:noFill/>
            <a:prstDash val="solid"/>
            <a:round/>
          </a:ln>
        </p:spPr>
      </p:sp>
      <p:sp>
        <p:nvSpPr>
          <p:cNvPr id="11" name="Oval"/>
          <p:cNvSpPr>
            <a:spLocks/>
          </p:cNvSpPr>
          <p:nvPr/>
        </p:nvSpPr>
        <p:spPr>
          <a:xfrm rot="0">
            <a:off x="639763" y="1006475"/>
            <a:ext cx="823912" cy="822325"/>
          </a:xfrm>
          <a:prstGeom prst="ellipse"/>
          <a:solidFill>
            <a:srgbClr val="00A896"/>
          </a:solidFill>
          <a:ln w="12700" cmpd="sng" cap="flat">
            <a:noFill/>
            <a:prstDash val="solid"/>
            <a:round/>
          </a:ln>
        </p:spPr>
      </p:sp>
      <p:pic>
        <p:nvPicPr>
          <p:cNvPr id="12" name="Image" descr="icon_equipment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814388" y="1179513"/>
            <a:ext cx="474662" cy="476249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13" name="Rectangle"/>
          <p:cNvSpPr>
            <a:spLocks/>
          </p:cNvSpPr>
          <p:nvPr/>
        </p:nvSpPr>
        <p:spPr>
          <a:xfrm rot="0">
            <a:off x="549275" y="2057400"/>
            <a:ext cx="9601201" cy="118903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1" i="0" u="none" strike="noStrike" kern="1200" cap="none" spc="0" baseline="0">
                <a:solidFill>
                  <a:srgbClr val="FFFFFF"/>
                </a:solidFill>
                <a:latin typeface="Cambria" pitchFamily="18" charset="0"/>
                <a:ea typeface="宋体" pitchFamily="0" charset="0"/>
                <a:cs typeface="Arial" pitchFamily="34" charset="0"/>
              </a:rPr>
              <a:t>HEALTHCARE EQUIPMENT SYSTEM</a:t>
            </a:r>
            <a:endParaRPr lang="zh-CN" altLang="en-US" sz="4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4" name="Rectangle"/>
          <p:cNvSpPr>
            <a:spLocks/>
          </p:cNvSpPr>
          <p:nvPr/>
        </p:nvSpPr>
        <p:spPr>
          <a:xfrm rot="0">
            <a:off x="593725" y="3063875"/>
            <a:ext cx="8686800" cy="5476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CADCF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A Smart Backend Solution for Managing Medical Equipment Efficiently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5" name="Rounded rectangle"/>
          <p:cNvSpPr>
            <a:spLocks/>
          </p:cNvSpPr>
          <p:nvPr/>
        </p:nvSpPr>
        <p:spPr>
          <a:xfrm rot="0">
            <a:off x="593725" y="3978275"/>
            <a:ext cx="1563688" cy="384175"/>
          </a:xfrm>
          <a:prstGeom prst="roundRect">
            <a:avLst>
              <a:gd name="adj" fmla="val 19046"/>
            </a:avLst>
          </a:prstGeom>
          <a:solidFill>
            <a:srgbClr val="1C7293">
              <a:alpha val="80000"/>
            </a:srgbClr>
          </a:solidFill>
          <a:ln w="12700" cmpd="sng" cap="flat">
            <a:solidFill>
              <a:srgbClr val="00A896"/>
            </a:solidFill>
            <a:prstDash val="solid"/>
            <a:round/>
          </a:ln>
        </p:spPr>
      </p:sp>
      <p:sp>
        <p:nvSpPr>
          <p:cNvPr id="16" name="Rectangle"/>
          <p:cNvSpPr>
            <a:spLocks/>
          </p:cNvSpPr>
          <p:nvPr/>
        </p:nvSpPr>
        <p:spPr>
          <a:xfrm rot="0">
            <a:off x="593725" y="3978275"/>
            <a:ext cx="1563688" cy="3841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Spring Boot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7" name="Rounded rectangle"/>
          <p:cNvSpPr>
            <a:spLocks/>
          </p:cNvSpPr>
          <p:nvPr/>
        </p:nvSpPr>
        <p:spPr>
          <a:xfrm rot="0">
            <a:off x="2322513" y="3978275"/>
            <a:ext cx="960437" cy="384175"/>
          </a:xfrm>
          <a:prstGeom prst="roundRect">
            <a:avLst>
              <a:gd name="adj" fmla="val 19046"/>
            </a:avLst>
          </a:prstGeom>
          <a:solidFill>
            <a:srgbClr val="1C7293">
              <a:alpha val="80000"/>
            </a:srgbClr>
          </a:solidFill>
          <a:ln w="12700" cmpd="sng" cap="flat">
            <a:solidFill>
              <a:srgbClr val="00A896"/>
            </a:solidFill>
            <a:prstDash val="solid"/>
            <a:round/>
          </a:ln>
        </p:spPr>
      </p:sp>
      <p:sp>
        <p:nvSpPr>
          <p:cNvPr id="18" name="Rectangle"/>
          <p:cNvSpPr>
            <a:spLocks/>
          </p:cNvSpPr>
          <p:nvPr/>
        </p:nvSpPr>
        <p:spPr>
          <a:xfrm rot="0">
            <a:off x="2322513" y="3978275"/>
            <a:ext cx="960437" cy="3841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MySQL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9" name="Rounded rectangle"/>
          <p:cNvSpPr>
            <a:spLocks/>
          </p:cNvSpPr>
          <p:nvPr/>
        </p:nvSpPr>
        <p:spPr>
          <a:xfrm rot="0">
            <a:off x="3448050" y="3978275"/>
            <a:ext cx="1965324" cy="384175"/>
          </a:xfrm>
          <a:prstGeom prst="roundRect">
            <a:avLst>
              <a:gd name="adj" fmla="val 19046"/>
            </a:avLst>
          </a:prstGeom>
          <a:solidFill>
            <a:srgbClr val="1C7293">
              <a:alpha val="80000"/>
            </a:srgbClr>
          </a:solidFill>
          <a:ln w="12700" cmpd="sng" cap="flat">
            <a:solidFill>
              <a:srgbClr val="00A896"/>
            </a:solidFill>
            <a:prstDash val="solid"/>
            <a:round/>
          </a:ln>
        </p:spPr>
      </p:sp>
      <p:sp>
        <p:nvSpPr>
          <p:cNvPr id="20" name="Rectangle"/>
          <p:cNvSpPr>
            <a:spLocks/>
          </p:cNvSpPr>
          <p:nvPr/>
        </p:nvSpPr>
        <p:spPr>
          <a:xfrm rot="0">
            <a:off x="3448050" y="3978275"/>
            <a:ext cx="1965324" cy="3841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JPA / Hibernate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1" name="Rounded rectangle"/>
          <p:cNvSpPr>
            <a:spLocks/>
          </p:cNvSpPr>
          <p:nvPr/>
        </p:nvSpPr>
        <p:spPr>
          <a:xfrm rot="0">
            <a:off x="5578475" y="3978275"/>
            <a:ext cx="1260474" cy="384175"/>
          </a:xfrm>
          <a:prstGeom prst="roundRect">
            <a:avLst>
              <a:gd name="adj" fmla="val 19046"/>
            </a:avLst>
          </a:prstGeom>
          <a:solidFill>
            <a:srgbClr val="1C7293">
              <a:alpha val="80000"/>
            </a:srgbClr>
          </a:solidFill>
          <a:ln w="12700" cmpd="sng" cap="flat">
            <a:solidFill>
              <a:srgbClr val="00A896"/>
            </a:solidFill>
            <a:prstDash val="solid"/>
            <a:round/>
          </a:ln>
        </p:spPr>
      </p:sp>
      <p:sp>
        <p:nvSpPr>
          <p:cNvPr id="22" name="Rectangle"/>
          <p:cNvSpPr>
            <a:spLocks/>
          </p:cNvSpPr>
          <p:nvPr/>
        </p:nvSpPr>
        <p:spPr>
          <a:xfrm rot="0">
            <a:off x="5578475" y="3978275"/>
            <a:ext cx="1260474" cy="3841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REST API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3" name="Rounded rectangle"/>
          <p:cNvSpPr>
            <a:spLocks/>
          </p:cNvSpPr>
          <p:nvPr/>
        </p:nvSpPr>
        <p:spPr>
          <a:xfrm rot="0">
            <a:off x="7004050" y="3978275"/>
            <a:ext cx="1060448" cy="384175"/>
          </a:xfrm>
          <a:prstGeom prst="roundRect">
            <a:avLst>
              <a:gd name="adj" fmla="val 19046"/>
            </a:avLst>
          </a:prstGeom>
          <a:solidFill>
            <a:srgbClr val="1C7293">
              <a:alpha val="80000"/>
            </a:srgbClr>
          </a:solidFill>
          <a:ln w="12700" cmpd="sng" cap="flat">
            <a:solidFill>
              <a:srgbClr val="00A896"/>
            </a:solidFill>
            <a:prstDash val="solid"/>
            <a:round/>
          </a:ln>
        </p:spPr>
      </p:sp>
      <p:sp>
        <p:nvSpPr>
          <p:cNvPr id="24" name="Rectangle"/>
          <p:cNvSpPr>
            <a:spLocks/>
          </p:cNvSpPr>
          <p:nvPr/>
        </p:nvSpPr>
        <p:spPr>
          <a:xfrm rot="0">
            <a:off x="7004050" y="3978275"/>
            <a:ext cx="1060448" cy="3841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Docker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5" name="Rectangle"/>
          <p:cNvSpPr>
            <a:spLocks/>
          </p:cNvSpPr>
          <p:nvPr/>
        </p:nvSpPr>
        <p:spPr>
          <a:xfrm rot="0">
            <a:off x="593725" y="5989638"/>
            <a:ext cx="91440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9FC2D6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Backend Application  •  Equipment · Laboratory · Reservation · Maintenance Management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445988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"/>
          <p:cNvSpPr>
            <a:spLocks/>
          </p:cNvSpPr>
          <p:nvPr/>
        </p:nvSpPr>
        <p:spPr>
          <a:xfrm rot="0">
            <a:off x="549275" y="365124"/>
            <a:ext cx="10058401" cy="5492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1200" cap="none" spc="0" baseline="0">
                <a:solidFill>
                  <a:srgbClr val="21295C"/>
                </a:solidFill>
                <a:latin typeface="Cambria" pitchFamily="18" charset="0"/>
                <a:ea typeface="宋体" pitchFamily="0" charset="0"/>
                <a:cs typeface="Arial" pitchFamily="34" charset="0"/>
              </a:rPr>
              <a:t>Overview</a:t>
            </a:r>
            <a:endParaRPr lang="zh-CN" altLang="en-US" sz="4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30" name="Rectangle"/>
          <p:cNvSpPr>
            <a:spLocks/>
          </p:cNvSpPr>
          <p:nvPr/>
        </p:nvSpPr>
        <p:spPr>
          <a:xfrm rot="0">
            <a:off x="630238" y="1882775"/>
            <a:ext cx="5211762" cy="10048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The Healthcare Equipment System is a backend application built with Spring Boot to manage medical equipment, laboratories, staff, reservations, and maintenance.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pic>
        <p:nvPicPr>
          <p:cNvPr id="31" name="Image" descr="icon_check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39763" y="3438525"/>
            <a:ext cx="219075" cy="219073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2" name="Rectangle"/>
          <p:cNvSpPr>
            <a:spLocks/>
          </p:cNvSpPr>
          <p:nvPr/>
        </p:nvSpPr>
        <p:spPr>
          <a:xfrm rot="0">
            <a:off x="985837" y="3365499"/>
            <a:ext cx="4846636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Manage equipment and laboratories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pic>
        <p:nvPicPr>
          <p:cNvPr id="33" name="Image" descr="icon_chec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39763" y="3895725"/>
            <a:ext cx="219075" cy="219073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4" name="Rectangle"/>
          <p:cNvSpPr>
            <a:spLocks/>
          </p:cNvSpPr>
          <p:nvPr/>
        </p:nvSpPr>
        <p:spPr>
          <a:xfrm rot="0">
            <a:off x="985837" y="3822700"/>
            <a:ext cx="4846636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Handle reservations and availability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pic>
        <p:nvPicPr>
          <p:cNvPr id="35" name="Image" descr="icon_che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639763" y="4352925"/>
            <a:ext cx="219075" cy="219073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6" name="Rectangle"/>
          <p:cNvSpPr>
            <a:spLocks/>
          </p:cNvSpPr>
          <p:nvPr/>
        </p:nvSpPr>
        <p:spPr>
          <a:xfrm rot="0">
            <a:off x="985837" y="4279900"/>
            <a:ext cx="4846636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Track maintenance history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pic>
        <p:nvPicPr>
          <p:cNvPr id="37" name="Image" descr="icon_check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39763" y="4810125"/>
            <a:ext cx="219075" cy="219075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8" name="Rectangle"/>
          <p:cNvSpPr>
            <a:spLocks/>
          </p:cNvSpPr>
          <p:nvPr/>
        </p:nvSpPr>
        <p:spPr>
          <a:xfrm rot="0">
            <a:off x="985837" y="4737100"/>
            <a:ext cx="4846636" cy="3651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Role-based access for staff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pic>
        <p:nvPicPr>
          <p:cNvPr id="39" name="Image" descr="icon_check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639763" y="5267325"/>
            <a:ext cx="219075" cy="219075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40" name="Rectangle"/>
          <p:cNvSpPr>
            <a:spLocks/>
          </p:cNvSpPr>
          <p:nvPr/>
        </p:nvSpPr>
        <p:spPr>
          <a:xfrm rot="0">
            <a:off x="985837" y="5194300"/>
            <a:ext cx="4846636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RESTful APIs for integration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41" name="Rounded rectangle"/>
          <p:cNvSpPr>
            <a:spLocks/>
          </p:cNvSpPr>
          <p:nvPr/>
        </p:nvSpPr>
        <p:spPr>
          <a:xfrm rot="0">
            <a:off x="6239106" y="1788416"/>
            <a:ext cx="5486399" cy="3521075"/>
          </a:xfrm>
          <a:prstGeom prst="roundRect">
            <a:avLst>
              <a:gd name="adj" fmla="val 3115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101600" dist="38100" dir="5400000">
              <a:srgbClr val="5A6B7A">
                <a:alpha val="24705"/>
              </a:srgbClr>
            </a:outerShdw>
          </a:effectLst>
        </p:spPr>
      </p:sp>
      <p:sp>
        <p:nvSpPr>
          <p:cNvPr id="42" name="Oval"/>
          <p:cNvSpPr>
            <a:spLocks/>
          </p:cNvSpPr>
          <p:nvPr/>
        </p:nvSpPr>
        <p:spPr>
          <a:xfrm rot="0">
            <a:off x="8594725" y="1874838"/>
            <a:ext cx="914400" cy="914399"/>
          </a:xfrm>
          <a:prstGeom prst="ellipse"/>
          <a:solidFill>
            <a:srgbClr val="065A82"/>
          </a:solidFill>
          <a:ln w="12700" cmpd="sng" cap="flat">
            <a:noFill/>
            <a:prstDash val="solid"/>
            <a:round/>
          </a:ln>
        </p:spPr>
      </p:sp>
      <p:pic>
        <p:nvPicPr>
          <p:cNvPr id="43" name="Image" descr="icon_equipment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8778875" y="2057400"/>
            <a:ext cx="547686" cy="549275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44" name="Rectangle"/>
          <p:cNvSpPr>
            <a:spLocks/>
          </p:cNvSpPr>
          <p:nvPr/>
        </p:nvSpPr>
        <p:spPr>
          <a:xfrm rot="0">
            <a:off x="6308724" y="2925762"/>
            <a:ext cx="5121275" cy="366711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mbria" pitchFamily="18" charset="0"/>
                <a:ea typeface="宋体" pitchFamily="0" charset="0"/>
                <a:cs typeface="Arial" pitchFamily="34" charset="0"/>
              </a:rPr>
              <a:t>Core Domains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45" name="Rounded rectangle"/>
          <p:cNvSpPr>
            <a:spLocks/>
          </p:cNvSpPr>
          <p:nvPr/>
        </p:nvSpPr>
        <p:spPr>
          <a:xfrm rot="0">
            <a:off x="6400800" y="3429000"/>
            <a:ext cx="2422525" cy="457200"/>
          </a:xfrm>
          <a:prstGeom prst="roundRect">
            <a:avLst>
              <a:gd name="adj" fmla="val 16000"/>
            </a:avLst>
          </a:prstGeom>
          <a:solidFill>
            <a:srgbClr val="F2F7FA"/>
          </a:solidFill>
          <a:ln w="9525" cmpd="sng" cap="flat">
            <a:solidFill>
              <a:srgbClr val="DCE7EC"/>
            </a:solidFill>
            <a:prstDash val="solid"/>
            <a:round/>
          </a:ln>
        </p:spPr>
      </p:sp>
      <p:sp>
        <p:nvSpPr>
          <p:cNvPr id="46" name="Rectangle"/>
          <p:cNvSpPr>
            <a:spLocks/>
          </p:cNvSpPr>
          <p:nvPr/>
        </p:nvSpPr>
        <p:spPr>
          <a:xfrm rot="0">
            <a:off x="6400800" y="3429000"/>
            <a:ext cx="2422525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022B47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Equipment</a:t>
            </a:r>
            <a:endParaRPr lang="zh-CN" altLang="en-US" sz="1200" b="0" i="0" u="none" strike="noStrike" kern="1200" cap="none" spc="0" baseline="0">
              <a:solidFill>
                <a:srgbClr val="022B47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47" name="Rounded rectangle"/>
          <p:cNvSpPr>
            <a:spLocks/>
          </p:cNvSpPr>
          <p:nvPr/>
        </p:nvSpPr>
        <p:spPr>
          <a:xfrm rot="0">
            <a:off x="9097963" y="3429000"/>
            <a:ext cx="2424111" cy="457200"/>
          </a:xfrm>
          <a:prstGeom prst="roundRect">
            <a:avLst>
              <a:gd name="adj" fmla="val 16000"/>
            </a:avLst>
          </a:prstGeom>
          <a:solidFill>
            <a:srgbClr val="F2F7FA"/>
          </a:solidFill>
          <a:ln w="9525" cmpd="sng" cap="flat">
            <a:solidFill>
              <a:srgbClr val="DCE7EC"/>
            </a:solidFill>
            <a:prstDash val="solid"/>
            <a:round/>
          </a:ln>
        </p:spPr>
      </p:sp>
      <p:sp>
        <p:nvSpPr>
          <p:cNvPr id="48" name="Rectangle"/>
          <p:cNvSpPr>
            <a:spLocks/>
          </p:cNvSpPr>
          <p:nvPr/>
        </p:nvSpPr>
        <p:spPr>
          <a:xfrm rot="0">
            <a:off x="9097963" y="3429000"/>
            <a:ext cx="2424111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Laboratories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49" name="Rounded rectangle"/>
          <p:cNvSpPr>
            <a:spLocks/>
          </p:cNvSpPr>
          <p:nvPr/>
        </p:nvSpPr>
        <p:spPr>
          <a:xfrm rot="0">
            <a:off x="6400800" y="4022725"/>
            <a:ext cx="2422525" cy="457200"/>
          </a:xfrm>
          <a:prstGeom prst="roundRect">
            <a:avLst>
              <a:gd name="adj" fmla="val 16000"/>
            </a:avLst>
          </a:prstGeom>
          <a:solidFill>
            <a:srgbClr val="F2F7FA"/>
          </a:solidFill>
          <a:ln w="9525" cmpd="sng" cap="flat">
            <a:solidFill>
              <a:srgbClr val="DCE7EC"/>
            </a:solidFill>
            <a:prstDash val="solid"/>
            <a:round/>
          </a:ln>
        </p:spPr>
      </p:sp>
      <p:sp>
        <p:nvSpPr>
          <p:cNvPr id="50" name="Rectangle"/>
          <p:cNvSpPr>
            <a:spLocks/>
          </p:cNvSpPr>
          <p:nvPr/>
        </p:nvSpPr>
        <p:spPr>
          <a:xfrm rot="0">
            <a:off x="6400800" y="4022725"/>
            <a:ext cx="2422525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Reservations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51" name="Rounded rectangle"/>
          <p:cNvSpPr>
            <a:spLocks/>
          </p:cNvSpPr>
          <p:nvPr/>
        </p:nvSpPr>
        <p:spPr>
          <a:xfrm rot="0">
            <a:off x="9097963" y="4022725"/>
            <a:ext cx="2424111" cy="457200"/>
          </a:xfrm>
          <a:prstGeom prst="roundRect">
            <a:avLst>
              <a:gd name="adj" fmla="val 16000"/>
            </a:avLst>
          </a:prstGeom>
          <a:solidFill>
            <a:srgbClr val="F2F7FA"/>
          </a:solidFill>
          <a:ln w="9525" cmpd="sng" cap="flat">
            <a:solidFill>
              <a:srgbClr val="DCE7EC"/>
            </a:solidFill>
            <a:prstDash val="solid"/>
            <a:round/>
          </a:ln>
        </p:spPr>
      </p:sp>
      <p:sp>
        <p:nvSpPr>
          <p:cNvPr id="52" name="Rectangle"/>
          <p:cNvSpPr>
            <a:spLocks/>
          </p:cNvSpPr>
          <p:nvPr/>
        </p:nvSpPr>
        <p:spPr>
          <a:xfrm rot="0">
            <a:off x="9097963" y="4022725"/>
            <a:ext cx="2424111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Maintenance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53" name="Rounded rectangle"/>
          <p:cNvSpPr>
            <a:spLocks/>
          </p:cNvSpPr>
          <p:nvPr/>
        </p:nvSpPr>
        <p:spPr>
          <a:xfrm rot="0">
            <a:off x="6400800" y="4618038"/>
            <a:ext cx="2422525" cy="457200"/>
          </a:xfrm>
          <a:prstGeom prst="roundRect">
            <a:avLst>
              <a:gd name="adj" fmla="val 16000"/>
            </a:avLst>
          </a:prstGeom>
          <a:solidFill>
            <a:srgbClr val="F2F7FA"/>
          </a:solidFill>
          <a:ln w="9525" cmpd="sng" cap="flat">
            <a:solidFill>
              <a:srgbClr val="DCE7EC"/>
            </a:solidFill>
            <a:prstDash val="solid"/>
            <a:round/>
          </a:ln>
        </p:spPr>
      </p:sp>
      <p:sp>
        <p:nvSpPr>
          <p:cNvPr id="54" name="Rectangle"/>
          <p:cNvSpPr>
            <a:spLocks/>
          </p:cNvSpPr>
          <p:nvPr/>
        </p:nvSpPr>
        <p:spPr>
          <a:xfrm rot="0">
            <a:off x="6400800" y="4618038"/>
            <a:ext cx="2422525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Staff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55" name="Rectangle"/>
          <p:cNvSpPr>
            <a:spLocks/>
          </p:cNvSpPr>
          <p:nvPr/>
        </p:nvSpPr>
        <p:spPr>
          <a:xfrm rot="0">
            <a:off x="457200" y="6492875"/>
            <a:ext cx="54864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Healthcare Equipment System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56" name="Rectangle"/>
          <p:cNvSpPr>
            <a:spLocks/>
          </p:cNvSpPr>
          <p:nvPr/>
        </p:nvSpPr>
        <p:spPr>
          <a:xfrm rot="0">
            <a:off x="11277600" y="6492875"/>
            <a:ext cx="4572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2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57" name="Rounded rectangle"/>
          <p:cNvSpPr>
            <a:spLocks/>
          </p:cNvSpPr>
          <p:nvPr/>
        </p:nvSpPr>
        <p:spPr>
          <a:xfrm rot="0">
            <a:off x="9074988" y="4655328"/>
            <a:ext cx="2422525" cy="457200"/>
          </a:xfrm>
          <a:prstGeom prst="roundRect">
            <a:avLst>
              <a:gd name="adj" fmla="val 16000"/>
            </a:avLst>
          </a:prstGeom>
          <a:solidFill>
            <a:srgbClr val="F2F7FA"/>
          </a:solidFill>
          <a:ln w="9525" cmpd="sng" cap="flat">
            <a:solidFill>
              <a:srgbClr val="DCE7EC"/>
            </a:solidFill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1" u="none" strike="noStrike" kern="1200" cap="none" spc="0" baseline="0">
                <a:solidFill>
                  <a:srgbClr val="022B47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MaintenanceTechnician</a:t>
            </a:r>
            <a:r>
              <a:rPr lang="en-US" altLang="zh-CN" sz="1400" b="1" i="1" u="none" strike="noStrike" kern="1200" cap="none" spc="0" baseline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​</a:t>
            </a:r>
            <a:r>
              <a:rPr lang="en-US" altLang="zh-CN" sz="1400" b="1" i="1" u="none" strike="noStrike" kern="1200" cap="none" spc="0" baseline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 </a:t>
            </a:r>
            <a:r>
              <a:rPr lang="en-US" altLang="zh-CN" sz="1400" b="1" i="1" u="none" strike="noStrike" kern="1200" cap="none" spc="0" baseline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endParaRPr lang="zh-CN" altLang="en-US" sz="1400" b="1" i="1" u="none" strike="noStrike" kern="1200" cap="none" spc="0" baseline="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321001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"/>
          <p:cNvSpPr>
            <a:spLocks/>
          </p:cNvSpPr>
          <p:nvPr/>
        </p:nvSpPr>
        <p:spPr>
          <a:xfrm rot="0">
            <a:off x="549275" y="365124"/>
            <a:ext cx="10058401" cy="5492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18" charset="0"/>
                <a:ea typeface="宋体" pitchFamily="0" charset="0"/>
                <a:cs typeface="Arial" pitchFamily="34" charset="0"/>
              </a:rPr>
              <a:t>Key Features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62" name="Rectangle"/>
          <p:cNvSpPr>
            <a:spLocks/>
          </p:cNvSpPr>
          <p:nvPr/>
        </p:nvSpPr>
        <p:spPr>
          <a:xfrm rot="0">
            <a:off x="549275" y="895349"/>
            <a:ext cx="10058401" cy="32067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What the system delivers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63" name="Rounded rectangle"/>
          <p:cNvSpPr>
            <a:spLocks/>
          </p:cNvSpPr>
          <p:nvPr/>
        </p:nvSpPr>
        <p:spPr>
          <a:xfrm rot="0">
            <a:off x="549275" y="1508125"/>
            <a:ext cx="3519488" cy="1966912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76200" dist="25400" dir="5400000">
              <a:srgbClr val="5A6B7A">
                <a:alpha val="17647"/>
              </a:srgbClr>
            </a:outerShdw>
          </a:effectLst>
        </p:spPr>
      </p:sp>
      <p:sp>
        <p:nvSpPr>
          <p:cNvPr id="64" name="Oval"/>
          <p:cNvSpPr>
            <a:spLocks/>
          </p:cNvSpPr>
          <p:nvPr/>
        </p:nvSpPr>
        <p:spPr>
          <a:xfrm rot="0">
            <a:off x="804863" y="1765300"/>
            <a:ext cx="593725" cy="593724"/>
          </a:xfrm>
          <a:prstGeom prst="ellipse"/>
          <a:solidFill>
            <a:srgbClr val="065A82"/>
          </a:solidFill>
          <a:ln w="12700" cmpd="sng" cap="flat">
            <a:noFill/>
            <a:prstDash val="solid"/>
            <a:round/>
          </a:ln>
        </p:spPr>
      </p:sp>
      <p:pic>
        <p:nvPicPr>
          <p:cNvPr id="65" name="Image" descr="icon_equipment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33450" y="1892299"/>
            <a:ext cx="338138" cy="338138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66" name="Rectangle"/>
          <p:cNvSpPr>
            <a:spLocks/>
          </p:cNvSpPr>
          <p:nvPr/>
        </p:nvSpPr>
        <p:spPr>
          <a:xfrm rot="0">
            <a:off x="804863" y="2468562"/>
            <a:ext cx="3008312" cy="411161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Equipment Management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67" name="Rectangle"/>
          <p:cNvSpPr>
            <a:spLocks/>
          </p:cNvSpPr>
          <p:nvPr/>
        </p:nvSpPr>
        <p:spPr>
          <a:xfrm rot="0">
            <a:off x="804863" y="2879724"/>
            <a:ext cx="3008312" cy="50323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Add, update, view and deactivate equipment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68" name="Rounded rectangle"/>
          <p:cNvSpPr>
            <a:spLocks/>
          </p:cNvSpPr>
          <p:nvPr/>
        </p:nvSpPr>
        <p:spPr>
          <a:xfrm rot="0">
            <a:off x="4324350" y="1508125"/>
            <a:ext cx="3521075" cy="1966912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76200" dist="25400" dir="5400000">
              <a:srgbClr val="5A6B7A">
                <a:alpha val="17647"/>
              </a:srgbClr>
            </a:outerShdw>
          </a:effectLst>
        </p:spPr>
      </p:sp>
      <p:sp>
        <p:nvSpPr>
          <p:cNvPr id="69" name="Oval"/>
          <p:cNvSpPr>
            <a:spLocks/>
          </p:cNvSpPr>
          <p:nvPr/>
        </p:nvSpPr>
        <p:spPr>
          <a:xfrm rot="0">
            <a:off x="4581525" y="1765300"/>
            <a:ext cx="593725" cy="593724"/>
          </a:xfrm>
          <a:prstGeom prst="ellipse"/>
          <a:solidFill>
            <a:srgbClr val="1C7293"/>
          </a:solidFill>
          <a:ln w="12700" cmpd="sng" cap="flat">
            <a:noFill/>
            <a:prstDash val="solid"/>
            <a:round/>
          </a:ln>
        </p:spPr>
      </p:sp>
      <p:pic>
        <p:nvPicPr>
          <p:cNvPr id="70" name="Image" descr="icon_laborator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4708525" y="1892299"/>
            <a:ext cx="339725" cy="338138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71" name="Rectangle"/>
          <p:cNvSpPr>
            <a:spLocks/>
          </p:cNvSpPr>
          <p:nvPr/>
        </p:nvSpPr>
        <p:spPr>
          <a:xfrm rot="0">
            <a:off x="4581525" y="2468562"/>
            <a:ext cx="3008313" cy="411161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Laboratory Management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72" name="Rectangle"/>
          <p:cNvSpPr>
            <a:spLocks/>
          </p:cNvSpPr>
          <p:nvPr/>
        </p:nvSpPr>
        <p:spPr>
          <a:xfrm rot="0">
            <a:off x="4581525" y="2879724"/>
            <a:ext cx="3008313" cy="50323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Manage laboratories and their equipment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73" name="Rounded rectangle"/>
          <p:cNvSpPr>
            <a:spLocks/>
          </p:cNvSpPr>
          <p:nvPr/>
        </p:nvSpPr>
        <p:spPr>
          <a:xfrm rot="0">
            <a:off x="8101013" y="1508125"/>
            <a:ext cx="3521075" cy="1966912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76200" dist="25400" dir="5400000">
              <a:srgbClr val="5A6B7A">
                <a:alpha val="17647"/>
              </a:srgbClr>
            </a:outerShdw>
          </a:effectLst>
        </p:spPr>
      </p:sp>
      <p:sp>
        <p:nvSpPr>
          <p:cNvPr id="74" name="Oval"/>
          <p:cNvSpPr>
            <a:spLocks/>
          </p:cNvSpPr>
          <p:nvPr/>
        </p:nvSpPr>
        <p:spPr>
          <a:xfrm rot="0">
            <a:off x="8358187" y="1765300"/>
            <a:ext cx="593725" cy="593724"/>
          </a:xfrm>
          <a:prstGeom prst="ellipse"/>
          <a:solidFill>
            <a:srgbClr val="00A896"/>
          </a:solidFill>
          <a:ln w="12700" cmpd="sng" cap="flat">
            <a:noFill/>
            <a:prstDash val="solid"/>
            <a:round/>
          </a:ln>
        </p:spPr>
      </p:sp>
      <p:pic>
        <p:nvPicPr>
          <p:cNvPr id="75" name="Image" descr="icon_reservation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8485188" y="1892299"/>
            <a:ext cx="338137" cy="338138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76" name="Rectangle"/>
          <p:cNvSpPr>
            <a:spLocks/>
          </p:cNvSpPr>
          <p:nvPr/>
        </p:nvSpPr>
        <p:spPr>
          <a:xfrm rot="0">
            <a:off x="8358187" y="2468562"/>
            <a:ext cx="3008311" cy="411161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Reservation Management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77" name="Rectangle"/>
          <p:cNvSpPr>
            <a:spLocks/>
          </p:cNvSpPr>
          <p:nvPr/>
        </p:nvSpPr>
        <p:spPr>
          <a:xfrm rot="0">
            <a:off x="8358187" y="2879724"/>
            <a:ext cx="3008311" cy="50323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Reserve equipment and check availability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78" name="Rounded rectangle"/>
          <p:cNvSpPr>
            <a:spLocks/>
          </p:cNvSpPr>
          <p:nvPr/>
        </p:nvSpPr>
        <p:spPr>
          <a:xfrm rot="0">
            <a:off x="549275" y="3730625"/>
            <a:ext cx="3519488" cy="1965324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76200" dist="25400" dir="5400000">
              <a:srgbClr val="5A6B7A">
                <a:alpha val="17647"/>
              </a:srgbClr>
            </a:outerShdw>
          </a:effectLst>
        </p:spPr>
      </p:sp>
      <p:sp>
        <p:nvSpPr>
          <p:cNvPr id="79" name="Oval"/>
          <p:cNvSpPr>
            <a:spLocks/>
          </p:cNvSpPr>
          <p:nvPr/>
        </p:nvSpPr>
        <p:spPr>
          <a:xfrm rot="0">
            <a:off x="804863" y="3986213"/>
            <a:ext cx="593725" cy="595312"/>
          </a:xfrm>
          <a:prstGeom prst="ellipse"/>
          <a:solidFill>
            <a:srgbClr val="065A82"/>
          </a:solidFill>
          <a:ln w="12700" cmpd="sng" cap="flat">
            <a:noFill/>
            <a:prstDash val="solid"/>
            <a:round/>
          </a:ln>
        </p:spPr>
      </p:sp>
      <p:pic>
        <p:nvPicPr>
          <p:cNvPr id="80" name="Image" descr="icon_maintenanc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933450" y="4114800"/>
            <a:ext cx="338138" cy="338137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81" name="Rectangle"/>
          <p:cNvSpPr>
            <a:spLocks/>
          </p:cNvSpPr>
          <p:nvPr/>
        </p:nvSpPr>
        <p:spPr>
          <a:xfrm rot="0">
            <a:off x="804863" y="4691063"/>
            <a:ext cx="3008312" cy="4111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Maintenance Tracking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82" name="Rectangle"/>
          <p:cNvSpPr>
            <a:spLocks/>
          </p:cNvSpPr>
          <p:nvPr/>
        </p:nvSpPr>
        <p:spPr>
          <a:xfrm rot="0">
            <a:off x="804863" y="5102225"/>
            <a:ext cx="3008312" cy="5032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Record maintenance and track history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83" name="Rounded rectangle"/>
          <p:cNvSpPr>
            <a:spLocks/>
          </p:cNvSpPr>
          <p:nvPr/>
        </p:nvSpPr>
        <p:spPr>
          <a:xfrm rot="0">
            <a:off x="4324350" y="3730625"/>
            <a:ext cx="3521075" cy="1965324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76200" dist="25400" dir="5400000">
              <a:srgbClr val="5A6B7A">
                <a:alpha val="17647"/>
              </a:srgbClr>
            </a:outerShdw>
          </a:effectLst>
        </p:spPr>
      </p:sp>
      <p:sp>
        <p:nvSpPr>
          <p:cNvPr id="84" name="Oval"/>
          <p:cNvSpPr>
            <a:spLocks/>
          </p:cNvSpPr>
          <p:nvPr/>
        </p:nvSpPr>
        <p:spPr>
          <a:xfrm rot="0">
            <a:off x="4581525" y="3986213"/>
            <a:ext cx="593725" cy="595312"/>
          </a:xfrm>
          <a:prstGeom prst="ellipse"/>
          <a:solidFill>
            <a:srgbClr val="1C7293"/>
          </a:solidFill>
          <a:ln w="12700" cmpd="sng" cap="flat">
            <a:noFill/>
            <a:prstDash val="solid"/>
            <a:round/>
          </a:ln>
        </p:spPr>
      </p:sp>
      <p:pic>
        <p:nvPicPr>
          <p:cNvPr id="85" name="Image" descr="icon_softdelet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4708525" y="4114800"/>
            <a:ext cx="339725" cy="338137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86" name="Rectangle"/>
          <p:cNvSpPr>
            <a:spLocks/>
          </p:cNvSpPr>
          <p:nvPr/>
        </p:nvSpPr>
        <p:spPr>
          <a:xfrm rot="0">
            <a:off x="4581525" y="4691063"/>
            <a:ext cx="3008313" cy="4111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Soft Delete (isActive)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87" name="Rectangle"/>
          <p:cNvSpPr>
            <a:spLocks/>
          </p:cNvSpPr>
          <p:nvPr/>
        </p:nvSpPr>
        <p:spPr>
          <a:xfrm rot="0">
            <a:off x="4581525" y="5102225"/>
            <a:ext cx="3008313" cy="5032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Deactivate records instead of deleting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88" name="Rounded rectangle"/>
          <p:cNvSpPr>
            <a:spLocks/>
          </p:cNvSpPr>
          <p:nvPr/>
        </p:nvSpPr>
        <p:spPr>
          <a:xfrm rot="0">
            <a:off x="8101013" y="3730625"/>
            <a:ext cx="3521075" cy="1965324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76200" dist="25400" dir="5400000">
              <a:srgbClr val="5A6B7A">
                <a:alpha val="17647"/>
              </a:srgbClr>
            </a:outerShdw>
          </a:effectLst>
        </p:spPr>
      </p:sp>
      <p:sp>
        <p:nvSpPr>
          <p:cNvPr id="89" name="Oval"/>
          <p:cNvSpPr>
            <a:spLocks/>
          </p:cNvSpPr>
          <p:nvPr/>
        </p:nvSpPr>
        <p:spPr>
          <a:xfrm rot="0">
            <a:off x="8358187" y="3986213"/>
            <a:ext cx="593725" cy="595312"/>
          </a:xfrm>
          <a:prstGeom prst="ellipse"/>
          <a:solidFill>
            <a:srgbClr val="00A896"/>
          </a:solidFill>
          <a:ln w="12700" cmpd="sng" cap="flat">
            <a:noFill/>
            <a:prstDash val="solid"/>
            <a:round/>
          </a:ln>
        </p:spPr>
      </p:sp>
      <p:pic>
        <p:nvPicPr>
          <p:cNvPr id="90" name="Image" descr="icon_api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8485188" y="4114800"/>
            <a:ext cx="338137" cy="338137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91" name="Rectangle"/>
          <p:cNvSpPr>
            <a:spLocks/>
          </p:cNvSpPr>
          <p:nvPr/>
        </p:nvSpPr>
        <p:spPr>
          <a:xfrm rot="0">
            <a:off x="8358187" y="4691063"/>
            <a:ext cx="3008311" cy="4111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RESTful API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92" name="Rectangle"/>
          <p:cNvSpPr>
            <a:spLocks/>
          </p:cNvSpPr>
          <p:nvPr/>
        </p:nvSpPr>
        <p:spPr>
          <a:xfrm rot="0">
            <a:off x="8358187" y="5102225"/>
            <a:ext cx="3008311" cy="5032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Well-structured APIs for front-end &amp; systems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93" name="Rectangle"/>
          <p:cNvSpPr>
            <a:spLocks/>
          </p:cNvSpPr>
          <p:nvPr/>
        </p:nvSpPr>
        <p:spPr>
          <a:xfrm rot="0">
            <a:off x="457200" y="6492875"/>
            <a:ext cx="54864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Healthcare Equipment System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94" name="Rectangle"/>
          <p:cNvSpPr>
            <a:spLocks/>
          </p:cNvSpPr>
          <p:nvPr/>
        </p:nvSpPr>
        <p:spPr>
          <a:xfrm rot="0">
            <a:off x="11277600" y="6492875"/>
            <a:ext cx="4572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3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841134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"/>
          <p:cNvSpPr>
            <a:spLocks/>
          </p:cNvSpPr>
          <p:nvPr/>
        </p:nvSpPr>
        <p:spPr>
          <a:xfrm rot="0">
            <a:off x="549275" y="365124"/>
            <a:ext cx="10058401" cy="5492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rgbClr val="21295C"/>
                </a:solidFill>
                <a:latin typeface="Cambria" pitchFamily="18" charset="0"/>
                <a:ea typeface="宋体" pitchFamily="0" charset="0"/>
                <a:cs typeface="Arial" pitchFamily="34" charset="0"/>
              </a:rPr>
              <a:t>System Architecture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99" name="Rectangle"/>
          <p:cNvSpPr>
            <a:spLocks/>
          </p:cNvSpPr>
          <p:nvPr/>
        </p:nvSpPr>
        <p:spPr>
          <a:xfrm rot="0">
            <a:off x="549275" y="895349"/>
            <a:ext cx="10058401" cy="32067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1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Three-tier request flow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00" name="Rounded rectangle"/>
          <p:cNvSpPr>
            <a:spLocks/>
          </p:cNvSpPr>
          <p:nvPr/>
        </p:nvSpPr>
        <p:spPr>
          <a:xfrm rot="0">
            <a:off x="639763" y="2378075"/>
            <a:ext cx="2285998" cy="1187450"/>
          </a:xfrm>
          <a:prstGeom prst="roundRect">
            <a:avLst>
              <a:gd name="adj" fmla="val 7689"/>
            </a:avLst>
          </a:prstGeom>
          <a:solidFill>
            <a:srgbClr val="FFFFFF"/>
          </a:solidFill>
          <a:ln w="19050" cmpd="sng" cap="flat">
            <a:solidFill>
              <a:srgbClr val="065A82"/>
            </a:solidFill>
            <a:prstDash val="solid"/>
            <a:round/>
          </a:ln>
          <a:effectLst>
            <a:outerShdw sx="100000" sy="100000" algn="bl" rotWithShape="0" blurRad="76200" dist="25400" dir="5400000">
              <a:srgbClr val="5A6B7A">
                <a:alpha val="19607"/>
              </a:srgbClr>
            </a:outerShdw>
          </a:effectLst>
        </p:spPr>
      </p:sp>
      <p:sp>
        <p:nvSpPr>
          <p:cNvPr id="101" name="Oval"/>
          <p:cNvSpPr>
            <a:spLocks/>
          </p:cNvSpPr>
          <p:nvPr/>
        </p:nvSpPr>
        <p:spPr>
          <a:xfrm rot="0">
            <a:off x="1490662" y="2524125"/>
            <a:ext cx="585787" cy="584199"/>
          </a:xfrm>
          <a:prstGeom prst="ellipse"/>
          <a:solidFill>
            <a:srgbClr val="1C7293"/>
          </a:solidFill>
          <a:ln w="12700" cmpd="sng" cap="flat">
            <a:noFill/>
            <a:prstDash val="solid"/>
            <a:round/>
          </a:ln>
        </p:spPr>
      </p:sp>
      <p:pic>
        <p:nvPicPr>
          <p:cNvPr id="102" name="Image" descr="icon_client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619250" y="2651125"/>
            <a:ext cx="328613" cy="330200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103" name="Rectangle"/>
          <p:cNvSpPr>
            <a:spLocks/>
          </p:cNvSpPr>
          <p:nvPr/>
        </p:nvSpPr>
        <p:spPr>
          <a:xfrm rot="0">
            <a:off x="639763" y="3127375"/>
            <a:ext cx="2285998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Client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104" name="Rounded rectangle"/>
          <p:cNvSpPr>
            <a:spLocks/>
          </p:cNvSpPr>
          <p:nvPr/>
        </p:nvSpPr>
        <p:spPr>
          <a:xfrm rot="0">
            <a:off x="4937125" y="2378075"/>
            <a:ext cx="2286000" cy="1187450"/>
          </a:xfrm>
          <a:prstGeom prst="roundRect">
            <a:avLst>
              <a:gd name="adj" fmla="val 7689"/>
            </a:avLst>
          </a:prstGeom>
          <a:solidFill>
            <a:srgbClr val="FFFFFF"/>
          </a:solidFill>
          <a:ln w="19050" cmpd="sng" cap="flat">
            <a:solidFill>
              <a:srgbClr val="065A82"/>
            </a:solidFill>
            <a:prstDash val="solid"/>
            <a:round/>
          </a:ln>
          <a:effectLst>
            <a:outerShdw sx="100000" sy="100000" algn="bl" rotWithShape="0" blurRad="76200" dist="25400" dir="5400000">
              <a:srgbClr val="5A6B7A">
                <a:alpha val="19607"/>
              </a:srgbClr>
            </a:outerShdw>
          </a:effectLst>
        </p:spPr>
      </p:sp>
      <p:sp>
        <p:nvSpPr>
          <p:cNvPr id="105" name="Oval"/>
          <p:cNvSpPr>
            <a:spLocks/>
          </p:cNvSpPr>
          <p:nvPr/>
        </p:nvSpPr>
        <p:spPr>
          <a:xfrm rot="0">
            <a:off x="5746750" y="2419350"/>
            <a:ext cx="585786" cy="584199"/>
          </a:xfrm>
          <a:prstGeom prst="ellipse"/>
          <a:solidFill>
            <a:srgbClr val="1C7293"/>
          </a:solidFill>
          <a:ln w="12700" cmpd="sng" cap="flat">
            <a:noFill/>
            <a:prstDash val="solid"/>
            <a:round/>
          </a:ln>
        </p:spPr>
      </p:sp>
      <p:pic>
        <p:nvPicPr>
          <p:cNvPr id="106" name="Image" descr="icon_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884861" y="2566988"/>
            <a:ext cx="328612" cy="330200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107" name="Rectangle"/>
          <p:cNvSpPr>
            <a:spLocks/>
          </p:cNvSpPr>
          <p:nvPr/>
        </p:nvSpPr>
        <p:spPr>
          <a:xfrm rot="0">
            <a:off x="4906963" y="3067050"/>
            <a:ext cx="22860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Spring Boot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Application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108" name="Rounded rectangle"/>
          <p:cNvSpPr>
            <a:spLocks/>
          </p:cNvSpPr>
          <p:nvPr/>
        </p:nvSpPr>
        <p:spPr>
          <a:xfrm rot="0">
            <a:off x="9236075" y="2460624"/>
            <a:ext cx="2286000" cy="1187449"/>
          </a:xfrm>
          <a:prstGeom prst="roundRect">
            <a:avLst>
              <a:gd name="adj" fmla="val 7689"/>
            </a:avLst>
          </a:prstGeom>
          <a:solidFill>
            <a:srgbClr val="FFFFFF"/>
          </a:solidFill>
          <a:ln w="19050" cmpd="sng" cap="flat">
            <a:solidFill>
              <a:srgbClr val="065A82"/>
            </a:solidFill>
            <a:prstDash val="solid"/>
            <a:round/>
          </a:ln>
          <a:effectLst>
            <a:outerShdw sx="100000" sy="100000" algn="bl" rotWithShape="0" blurRad="76200" dist="25400" dir="5400000">
              <a:srgbClr val="5A6B7A">
                <a:alpha val="19607"/>
              </a:srgbClr>
            </a:outerShdw>
          </a:effectLst>
        </p:spPr>
      </p:sp>
      <p:sp>
        <p:nvSpPr>
          <p:cNvPr id="109" name="Oval"/>
          <p:cNvSpPr>
            <a:spLocks/>
          </p:cNvSpPr>
          <p:nvPr/>
        </p:nvSpPr>
        <p:spPr>
          <a:xfrm rot="0">
            <a:off x="10150474" y="2397125"/>
            <a:ext cx="585786" cy="584200"/>
          </a:xfrm>
          <a:prstGeom prst="ellipse"/>
          <a:solidFill>
            <a:srgbClr val="1C7293"/>
          </a:solidFill>
          <a:ln w="12700" cmpd="sng" cap="flat">
            <a:noFill/>
            <a:prstDash val="solid"/>
            <a:round/>
          </a:ln>
        </p:spPr>
      </p:sp>
      <p:pic>
        <p:nvPicPr>
          <p:cNvPr id="110" name="Image" descr="icon_databas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10279062" y="2524125"/>
            <a:ext cx="328612" cy="330200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111" name="Rectangle"/>
          <p:cNvSpPr>
            <a:spLocks/>
          </p:cNvSpPr>
          <p:nvPr/>
        </p:nvSpPr>
        <p:spPr>
          <a:xfrm rot="0">
            <a:off x="9236075" y="3127375"/>
            <a:ext cx="22860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MySQL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Database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112" name="Straight line"/>
          <p:cNvSpPr>
            <a:spLocks/>
          </p:cNvSpPr>
          <p:nvPr/>
        </p:nvSpPr>
        <p:spPr>
          <a:xfrm rot="0">
            <a:off x="2925762" y="2971799"/>
            <a:ext cx="2011360" cy="0"/>
          </a:xfrm>
          <a:prstGeom prst="line"/>
          <a:noFill/>
          <a:ln w="25400" cmpd="sng" cap="flat">
            <a:solidFill>
              <a:srgbClr val="1C7293"/>
            </a:solidFill>
            <a:prstDash val="solid"/>
            <a:round/>
            <a:tailEnd type="triangle" w="med" len="med"/>
          </a:ln>
        </p:spPr>
      </p:sp>
      <p:sp>
        <p:nvSpPr>
          <p:cNvPr id="113" name="Rectangle"/>
          <p:cNvSpPr>
            <a:spLocks/>
          </p:cNvSpPr>
          <p:nvPr/>
        </p:nvSpPr>
        <p:spPr>
          <a:xfrm rot="0">
            <a:off x="2925762" y="2624136"/>
            <a:ext cx="2011360" cy="274636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1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HTTP / REST</a:t>
            </a:r>
            <a:endParaRPr lang="zh-CN" altLang="en-US" sz="1400" b="1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14" name="Straight line"/>
          <p:cNvSpPr>
            <a:spLocks/>
          </p:cNvSpPr>
          <p:nvPr/>
        </p:nvSpPr>
        <p:spPr>
          <a:xfrm rot="0">
            <a:off x="7223125" y="2971799"/>
            <a:ext cx="2012950" cy="0"/>
          </a:xfrm>
          <a:prstGeom prst="line"/>
          <a:noFill/>
          <a:ln w="25400" cmpd="sng" cap="flat">
            <a:solidFill>
              <a:srgbClr val="1C7293"/>
            </a:solidFill>
            <a:prstDash val="solid"/>
            <a:round/>
            <a:tailEnd type="triangle" w="med" len="med"/>
          </a:ln>
        </p:spPr>
      </p:sp>
      <p:sp>
        <p:nvSpPr>
          <p:cNvPr id="115" name="Straight line"/>
          <p:cNvSpPr>
            <a:spLocks/>
          </p:cNvSpPr>
          <p:nvPr/>
        </p:nvSpPr>
        <p:spPr>
          <a:xfrm rot="0">
            <a:off x="6080125" y="3565524"/>
            <a:ext cx="0" cy="549274"/>
          </a:xfrm>
          <a:prstGeom prst="line"/>
          <a:noFill/>
          <a:ln w="25400" cmpd="sng" cap="flat">
            <a:solidFill>
              <a:srgbClr val="065A82"/>
            </a:solidFill>
            <a:prstDash val="dash"/>
            <a:round/>
            <a:tailEnd type="triangle" w="med" len="med"/>
          </a:ln>
        </p:spPr>
      </p:sp>
      <p:sp>
        <p:nvSpPr>
          <p:cNvPr id="116" name="Rounded rectangle"/>
          <p:cNvSpPr>
            <a:spLocks/>
          </p:cNvSpPr>
          <p:nvPr/>
        </p:nvSpPr>
        <p:spPr>
          <a:xfrm rot="0">
            <a:off x="5075238" y="4114800"/>
            <a:ext cx="2011362" cy="503238"/>
          </a:xfrm>
          <a:prstGeom prst="roundRect">
            <a:avLst>
              <a:gd name="adj" fmla="val 14546"/>
            </a:avLst>
          </a:prstGeom>
          <a:solidFill>
            <a:srgbClr val="21295C"/>
          </a:solidFill>
          <a:ln w="12700" cmpd="sng" cap="flat">
            <a:noFill/>
            <a:prstDash val="solid"/>
            <a:round/>
          </a:ln>
        </p:spPr>
      </p:sp>
      <p:sp>
        <p:nvSpPr>
          <p:cNvPr id="117" name="Rectangle"/>
          <p:cNvSpPr>
            <a:spLocks/>
          </p:cNvSpPr>
          <p:nvPr/>
        </p:nvSpPr>
        <p:spPr>
          <a:xfrm rot="0">
            <a:off x="5075238" y="4114800"/>
            <a:ext cx="2011362" cy="50323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JPA / Hibernate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18" name="Rectangle"/>
          <p:cNvSpPr>
            <a:spLocks/>
          </p:cNvSpPr>
          <p:nvPr/>
        </p:nvSpPr>
        <p:spPr>
          <a:xfrm rot="0">
            <a:off x="549275" y="4937125"/>
            <a:ext cx="10515600" cy="549273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Client sends HTTP requests to the Spring Boot application, which uses JPA/Hibernate to persist and retrieve data from a MySQL database.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19" name="Rectangle"/>
          <p:cNvSpPr>
            <a:spLocks/>
          </p:cNvSpPr>
          <p:nvPr/>
        </p:nvSpPr>
        <p:spPr>
          <a:xfrm rot="0">
            <a:off x="457200" y="6492875"/>
            <a:ext cx="54864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Healthcare Equipment System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20" name="Rectangle"/>
          <p:cNvSpPr>
            <a:spLocks/>
          </p:cNvSpPr>
          <p:nvPr/>
        </p:nvSpPr>
        <p:spPr>
          <a:xfrm rot="0">
            <a:off x="11277600" y="6492875"/>
            <a:ext cx="4572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4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89121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"/>
          <p:cNvSpPr>
            <a:spLocks/>
          </p:cNvSpPr>
          <p:nvPr/>
        </p:nvSpPr>
        <p:spPr>
          <a:xfrm rot="0">
            <a:off x="2613568" y="200218"/>
            <a:ext cx="6959754" cy="98012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18" charset="0"/>
                <a:ea typeface="Cambria" pitchFamily="18" charset="0"/>
                <a:cs typeface="Arial" pitchFamily="34" charset="0"/>
              </a:rPr>
              <a:t>ERD — Entity Relationship Diagram</a:t>
            </a:r>
            <a:endParaRPr lang="en-US" altLang="zh-CN" sz="3000" b="0" i="0" u="none" strike="noStrike" kern="1200" cap="none" spc="0" baseline="0">
              <a:solidFill>
                <a:schemeClr val="tx1"/>
              </a:solidFill>
              <a:latin typeface="Cambria" pitchFamily="18" charset="0"/>
              <a:ea typeface="Cambria" pitchFamily="18" charset="0"/>
              <a:cs typeface="Arial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pic>
        <p:nvPicPr>
          <p:cNvPr id="125" name="Image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380994" y="1044112"/>
            <a:ext cx="11429826" cy="4769671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496453606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ounded rectangle"/>
          <p:cNvSpPr>
            <a:spLocks/>
          </p:cNvSpPr>
          <p:nvPr/>
        </p:nvSpPr>
        <p:spPr>
          <a:xfrm rot="0">
            <a:off x="8897666" y="2110872"/>
            <a:ext cx="2563504" cy="995169"/>
          </a:xfrm>
          <a:prstGeom prst="roundRect">
            <a:avLst>
              <a:gd name="adj" fmla="val 6958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</p:spPr>
      </p:sp>
      <p:sp>
        <p:nvSpPr>
          <p:cNvPr id="127" name="Rectangle"/>
          <p:cNvSpPr>
            <a:spLocks/>
          </p:cNvSpPr>
          <p:nvPr/>
        </p:nvSpPr>
        <p:spPr>
          <a:xfrm rot="0">
            <a:off x="9035779" y="2276592"/>
            <a:ext cx="3290887" cy="274636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Relationships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000" b="1" i="0" u="none" strike="noStrike" kern="1200" cap="none" spc="0" baseline="0">
              <a:solidFill>
                <a:srgbClr val="21295C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28" name="Rectangle"/>
          <p:cNvSpPr>
            <a:spLocks/>
          </p:cNvSpPr>
          <p:nvPr/>
        </p:nvSpPr>
        <p:spPr>
          <a:xfrm rot="0">
            <a:off x="9035779" y="2420241"/>
            <a:ext cx="3290887" cy="5492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   One          *   Many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129" name="Rounded rectangle"/>
          <p:cNvSpPr>
            <a:spLocks/>
          </p:cNvSpPr>
          <p:nvPr/>
        </p:nvSpPr>
        <p:spPr>
          <a:xfrm rot="0">
            <a:off x="8488788" y="3437286"/>
            <a:ext cx="3567113" cy="2652713"/>
          </a:xfrm>
          <a:prstGeom prst="roundRect">
            <a:avLst>
              <a:gd name="adj" fmla="val 2759"/>
            </a:avLst>
          </a:prstGeom>
          <a:solidFill>
            <a:srgbClr val="21295C"/>
          </a:solidFill>
          <a:ln w="9525" cmpd="sng" cap="flat">
            <a:solidFill>
              <a:srgbClr val="21C0A5"/>
            </a:solidFill>
            <a:prstDash val="solid"/>
            <a:round/>
          </a:ln>
        </p:spPr>
      </p:sp>
      <p:sp>
        <p:nvSpPr>
          <p:cNvPr id="130" name="Rectangle"/>
          <p:cNvSpPr>
            <a:spLocks/>
          </p:cNvSpPr>
          <p:nvPr/>
        </p:nvSpPr>
        <p:spPr>
          <a:xfrm rot="0">
            <a:off x="8672938" y="3575399"/>
            <a:ext cx="3200400" cy="3190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Relationships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31" name="Rectangle"/>
          <p:cNvSpPr>
            <a:spLocks/>
          </p:cNvSpPr>
          <p:nvPr/>
        </p:nvSpPr>
        <p:spPr>
          <a:xfrm rot="0">
            <a:off x="8663645" y="3958683"/>
            <a:ext cx="324485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CADCF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Laboratory 1 → * Equipment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32" name="Rectangle"/>
          <p:cNvSpPr>
            <a:spLocks/>
          </p:cNvSpPr>
          <p:nvPr/>
        </p:nvSpPr>
        <p:spPr>
          <a:xfrm rot="0">
            <a:off x="8672938" y="4378712"/>
            <a:ext cx="3244848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CADCF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Equipment 1 → * Reservation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33" name="Rectangle"/>
          <p:cNvSpPr>
            <a:spLocks/>
          </p:cNvSpPr>
          <p:nvPr/>
        </p:nvSpPr>
        <p:spPr>
          <a:xfrm rot="0">
            <a:off x="8672938" y="4845205"/>
            <a:ext cx="3244848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CADCF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Equipment 1 → * Maintenance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34" name="Rectangle"/>
          <p:cNvSpPr>
            <a:spLocks/>
          </p:cNvSpPr>
          <p:nvPr/>
        </p:nvSpPr>
        <p:spPr>
          <a:xfrm rot="0">
            <a:off x="8672938" y="5293112"/>
            <a:ext cx="3244848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CADCF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Laboratory Staff 1 → * Reservation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35" name="Rectangle"/>
          <p:cNvSpPr>
            <a:spLocks/>
          </p:cNvSpPr>
          <p:nvPr/>
        </p:nvSpPr>
        <p:spPr>
          <a:xfrm rot="0">
            <a:off x="457200" y="6492875"/>
            <a:ext cx="54864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Healthcare Equipment System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36" name="Rectangle"/>
          <p:cNvSpPr>
            <a:spLocks/>
          </p:cNvSpPr>
          <p:nvPr/>
        </p:nvSpPr>
        <p:spPr>
          <a:xfrm rot="0">
            <a:off x="11324063" y="5907436"/>
            <a:ext cx="4572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5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37" name="Rectangle"/>
          <p:cNvSpPr>
            <a:spLocks/>
          </p:cNvSpPr>
          <p:nvPr/>
        </p:nvSpPr>
        <p:spPr>
          <a:xfrm rot="0">
            <a:off x="8682231" y="5674112"/>
            <a:ext cx="324485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CADCF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Technician </a:t>
            </a:r>
            <a:r>
              <a:rPr lang="en-US" altLang="zh-CN" sz="1600" b="0" i="0" u="none" strike="noStrike" kern="1200" cap="none" spc="0" baseline="0">
                <a:solidFill>
                  <a:srgbClr val="CADCF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 → * </a:t>
            </a:r>
            <a:r>
              <a:rPr lang="en-US" altLang="zh-CN" sz="1600" b="0" i="0" u="none" strike="noStrike" kern="1200" cap="none" spc="0" baseline="0">
                <a:solidFill>
                  <a:srgbClr val="CADCF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Maintenance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38" name="Rectangle"/>
          <p:cNvSpPr>
            <a:spLocks/>
          </p:cNvSpPr>
          <p:nvPr/>
        </p:nvSpPr>
        <p:spPr>
          <a:xfrm rot="0">
            <a:off x="3048000" y="455341"/>
            <a:ext cx="6096000" cy="8439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000000"/>
                </a:solidFill>
                <a:latin typeface="Calibri" pitchFamily="34" charset="0"/>
                <a:ea typeface="宋体" pitchFamily="0" charset="0"/>
                <a:cs typeface="Arial" pitchFamily="34" charset="0"/>
              </a:rPr>
              <a:t>Relational Schema for Database</a:t>
            </a:r>
            <a:r>
              <a:rPr lang="en-US" altLang="zh-CN" sz="3200" b="0" i="0" u="none" strike="noStrike" kern="1200" cap="none" spc="0" baseline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​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pic>
        <p:nvPicPr>
          <p:cNvPr id="370" name="Image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457200" y="1255205"/>
            <a:ext cx="7574974" cy="4834511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609808776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"/>
          <p:cNvSpPr>
            <a:spLocks/>
          </p:cNvSpPr>
          <p:nvPr/>
        </p:nvSpPr>
        <p:spPr>
          <a:xfrm rot="0">
            <a:off x="4200293" y="92926"/>
            <a:ext cx="3791414" cy="7200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00206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UserFlow </a:t>
            </a:r>
            <a:r>
              <a:rPr lang="en-US" altLang="zh-CN" sz="2400" b="1" i="0" u="none" strike="noStrike" kern="1200" cap="none" spc="0" baseline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libri" pitchFamily="34" charset="0"/>
              </a:rPr>
              <a:t>Diagram </a:t>
            </a:r>
            <a:endParaRPr lang="en-US" altLang="zh-CN" sz="1400" b="1" i="0" u="none" strike="noStrike" kern="1200" cap="none" spc="0" baseline="0">
              <a:solidFill>
                <a:srgbClr val="002060"/>
              </a:solidFill>
              <a:latin typeface="Calibri" pitchFamily="34" charset="0"/>
              <a:ea typeface="Calibri" pitchFamily="34" charset="0"/>
              <a:cs typeface="Arial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pic>
        <p:nvPicPr>
          <p:cNvPr id="144" name="Image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45430" y="830766"/>
            <a:ext cx="3314700" cy="549383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45" name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3696511" y="828676"/>
            <a:ext cx="4306462" cy="5498015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46" name="Image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8266771" y="830300"/>
            <a:ext cx="3668751" cy="5494764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11044848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"/>
          <p:cNvSpPr>
            <a:spLocks/>
          </p:cNvSpPr>
          <p:nvPr/>
        </p:nvSpPr>
        <p:spPr>
          <a:xfrm rot="0">
            <a:off x="549275" y="365124"/>
            <a:ext cx="10058401" cy="5492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21295C"/>
                </a:solidFill>
                <a:latin typeface="Cambria" pitchFamily="18" charset="0"/>
                <a:ea typeface="宋体" pitchFamily="0" charset="0"/>
                <a:cs typeface="Arial" pitchFamily="34" charset="0"/>
              </a:rPr>
              <a:t>isActive in CRUD Operations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48" name="Rectangle"/>
          <p:cNvSpPr>
            <a:spLocks/>
          </p:cNvSpPr>
          <p:nvPr/>
        </p:nvSpPr>
        <p:spPr>
          <a:xfrm rot="0">
            <a:off x="549275" y="1463675"/>
            <a:ext cx="2011363" cy="457200"/>
          </a:xfrm>
          <a:prstGeom prst="rect"/>
          <a:solidFill>
            <a:srgbClr val="21295C"/>
          </a:solidFill>
          <a:ln w="6350" cmpd="sng" cap="flat">
            <a:solidFill>
              <a:srgbClr val="FFFFFF"/>
            </a:solidFill>
            <a:prstDash val="solid"/>
            <a:miter/>
          </a:ln>
        </p:spPr>
      </p:sp>
      <p:sp>
        <p:nvSpPr>
          <p:cNvPr id="149" name="Rectangle"/>
          <p:cNvSpPr>
            <a:spLocks/>
          </p:cNvSpPr>
          <p:nvPr/>
        </p:nvSpPr>
        <p:spPr>
          <a:xfrm rot="0">
            <a:off x="549275" y="1463675"/>
            <a:ext cx="2011363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09728" tIns="109728" rIns="109728" bIns="109728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Operation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150" name="Rectangle"/>
          <p:cNvSpPr>
            <a:spLocks/>
          </p:cNvSpPr>
          <p:nvPr/>
        </p:nvSpPr>
        <p:spPr>
          <a:xfrm rot="0">
            <a:off x="2560638" y="1463675"/>
            <a:ext cx="4389437" cy="457200"/>
          </a:xfrm>
          <a:prstGeom prst="rect"/>
          <a:solidFill>
            <a:srgbClr val="21295C"/>
          </a:solidFill>
          <a:ln w="6350" cmpd="sng" cap="flat">
            <a:solidFill>
              <a:srgbClr val="FFFFFF"/>
            </a:solidFill>
            <a:prstDash val="solid"/>
            <a:miter/>
          </a:ln>
        </p:spPr>
      </p:sp>
      <p:sp>
        <p:nvSpPr>
          <p:cNvPr id="151" name="Rectangle"/>
          <p:cNvSpPr>
            <a:spLocks/>
          </p:cNvSpPr>
          <p:nvPr/>
        </p:nvSpPr>
        <p:spPr>
          <a:xfrm rot="0">
            <a:off x="2560638" y="1463675"/>
            <a:ext cx="4389437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09728" tIns="109728" rIns="109728" bIns="109728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Behavior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152" name="Rectangle"/>
          <p:cNvSpPr>
            <a:spLocks/>
          </p:cNvSpPr>
          <p:nvPr/>
        </p:nvSpPr>
        <p:spPr>
          <a:xfrm rot="0">
            <a:off x="6950075" y="1463675"/>
            <a:ext cx="4387851" cy="457200"/>
          </a:xfrm>
          <a:prstGeom prst="rect"/>
          <a:solidFill>
            <a:srgbClr val="21295C"/>
          </a:solidFill>
          <a:ln w="6350" cmpd="sng" cap="flat">
            <a:solidFill>
              <a:srgbClr val="FFFFFF"/>
            </a:solidFill>
            <a:prstDash val="solid"/>
            <a:miter/>
          </a:ln>
        </p:spPr>
      </p:sp>
      <p:sp>
        <p:nvSpPr>
          <p:cNvPr id="153" name="Rectangle"/>
          <p:cNvSpPr>
            <a:spLocks/>
          </p:cNvSpPr>
          <p:nvPr/>
        </p:nvSpPr>
        <p:spPr>
          <a:xfrm rot="0">
            <a:off x="6950075" y="1463675"/>
            <a:ext cx="4387851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09728" tIns="109728" rIns="109728" bIns="109728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Example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154" name="Rectangle"/>
          <p:cNvSpPr>
            <a:spLocks/>
          </p:cNvSpPr>
          <p:nvPr/>
        </p:nvSpPr>
        <p:spPr>
          <a:xfrm rot="0">
            <a:off x="549275" y="1920875"/>
            <a:ext cx="2011363" cy="566738"/>
          </a:xfrm>
          <a:prstGeom prst="rect"/>
          <a:solidFill>
            <a:srgbClr val="FFFFFF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155" name="Rectangle"/>
          <p:cNvSpPr>
            <a:spLocks/>
          </p:cNvSpPr>
          <p:nvPr/>
        </p:nvSpPr>
        <p:spPr>
          <a:xfrm rot="0">
            <a:off x="549275" y="1920875"/>
            <a:ext cx="2011363" cy="56673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109728" tIns="109728" rIns="109728" bIns="109728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Create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56" name="Rectangle"/>
          <p:cNvSpPr>
            <a:spLocks/>
          </p:cNvSpPr>
          <p:nvPr/>
        </p:nvSpPr>
        <p:spPr>
          <a:xfrm rot="0">
            <a:off x="2560638" y="1920875"/>
            <a:ext cx="4389437" cy="566738"/>
          </a:xfrm>
          <a:prstGeom prst="rect"/>
          <a:solidFill>
            <a:srgbClr val="FFFFFF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157" name="Rectangle"/>
          <p:cNvSpPr>
            <a:spLocks/>
          </p:cNvSpPr>
          <p:nvPr/>
        </p:nvSpPr>
        <p:spPr>
          <a:xfrm rot="0">
            <a:off x="2560638" y="1920875"/>
            <a:ext cx="4389437" cy="56673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109728" tIns="109728" rIns="109728" bIns="109728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Record is added with isActive = true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58" name="Rectangle"/>
          <p:cNvSpPr>
            <a:spLocks/>
          </p:cNvSpPr>
          <p:nvPr/>
        </p:nvSpPr>
        <p:spPr>
          <a:xfrm rot="0">
            <a:off x="6950075" y="1920875"/>
            <a:ext cx="4387851" cy="566738"/>
          </a:xfrm>
          <a:prstGeom prst="rect"/>
          <a:solidFill>
            <a:srgbClr val="FFFFFF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159" name="Rectangle"/>
          <p:cNvSpPr>
            <a:spLocks/>
          </p:cNvSpPr>
          <p:nvPr/>
        </p:nvSpPr>
        <p:spPr>
          <a:xfrm rot="0">
            <a:off x="6950075" y="1920875"/>
            <a:ext cx="4387851" cy="56673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109728" tIns="109728" rIns="109728" bIns="109728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New equipment is active and visible.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60" name="Rectangle"/>
          <p:cNvSpPr>
            <a:spLocks/>
          </p:cNvSpPr>
          <p:nvPr/>
        </p:nvSpPr>
        <p:spPr>
          <a:xfrm rot="0">
            <a:off x="549275" y="2487613"/>
            <a:ext cx="2011363" cy="566737"/>
          </a:xfrm>
          <a:prstGeom prst="rect"/>
          <a:solidFill>
            <a:srgbClr val="E9F1F4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161" name="Rectangle"/>
          <p:cNvSpPr>
            <a:spLocks/>
          </p:cNvSpPr>
          <p:nvPr/>
        </p:nvSpPr>
        <p:spPr>
          <a:xfrm rot="0">
            <a:off x="549275" y="2487613"/>
            <a:ext cx="2011363" cy="5667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109728" tIns="109728" rIns="109728" bIns="109728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Read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62" name="Rectangle"/>
          <p:cNvSpPr>
            <a:spLocks/>
          </p:cNvSpPr>
          <p:nvPr/>
        </p:nvSpPr>
        <p:spPr>
          <a:xfrm rot="0">
            <a:off x="2560638" y="2487613"/>
            <a:ext cx="4389437" cy="566737"/>
          </a:xfrm>
          <a:prstGeom prst="rect"/>
          <a:solidFill>
            <a:srgbClr val="E9F1F4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163" name="Rectangle"/>
          <p:cNvSpPr>
            <a:spLocks/>
          </p:cNvSpPr>
          <p:nvPr/>
        </p:nvSpPr>
        <p:spPr>
          <a:xfrm rot="0">
            <a:off x="2560638" y="2487613"/>
            <a:ext cx="4389437" cy="5667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109728" tIns="109728" rIns="109728" bIns="109728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Fetch only records where isActive = true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64" name="Rectangle"/>
          <p:cNvSpPr>
            <a:spLocks/>
          </p:cNvSpPr>
          <p:nvPr/>
        </p:nvSpPr>
        <p:spPr>
          <a:xfrm rot="0">
            <a:off x="6950075" y="2487613"/>
            <a:ext cx="4387851" cy="566737"/>
          </a:xfrm>
          <a:prstGeom prst="rect"/>
          <a:solidFill>
            <a:srgbClr val="E9F1F4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165" name="Rectangle"/>
          <p:cNvSpPr>
            <a:spLocks/>
          </p:cNvSpPr>
          <p:nvPr/>
        </p:nvSpPr>
        <p:spPr>
          <a:xfrm rot="0">
            <a:off x="6950075" y="2487613"/>
            <a:ext cx="4387851" cy="5667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109728" tIns="109728" rIns="109728" bIns="109728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Active equipment list.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66" name="Rectangle"/>
          <p:cNvSpPr>
            <a:spLocks/>
          </p:cNvSpPr>
          <p:nvPr/>
        </p:nvSpPr>
        <p:spPr>
          <a:xfrm rot="0">
            <a:off x="549275" y="3054350"/>
            <a:ext cx="2011363" cy="566738"/>
          </a:xfrm>
          <a:prstGeom prst="rect"/>
          <a:solidFill>
            <a:srgbClr val="FFFFFF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167" name="Rectangle"/>
          <p:cNvSpPr>
            <a:spLocks/>
          </p:cNvSpPr>
          <p:nvPr/>
        </p:nvSpPr>
        <p:spPr>
          <a:xfrm rot="0">
            <a:off x="549275" y="3054350"/>
            <a:ext cx="2011363" cy="56673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109728" tIns="109728" rIns="109728" bIns="109728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Update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68" name="Rectangle"/>
          <p:cNvSpPr>
            <a:spLocks/>
          </p:cNvSpPr>
          <p:nvPr/>
        </p:nvSpPr>
        <p:spPr>
          <a:xfrm rot="0">
            <a:off x="2560638" y="3054350"/>
            <a:ext cx="4389437" cy="566738"/>
          </a:xfrm>
          <a:prstGeom prst="rect"/>
          <a:solidFill>
            <a:srgbClr val="FFFFFF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169" name="Rectangle"/>
          <p:cNvSpPr>
            <a:spLocks/>
          </p:cNvSpPr>
          <p:nvPr/>
        </p:nvSpPr>
        <p:spPr>
          <a:xfrm rot="0">
            <a:off x="2560638" y="3054350"/>
            <a:ext cx="4389437" cy="56673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109728" tIns="109728" rIns="109728" bIns="109728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Update allowed only if isActive = true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70" name="Rectangle"/>
          <p:cNvSpPr>
            <a:spLocks/>
          </p:cNvSpPr>
          <p:nvPr/>
        </p:nvSpPr>
        <p:spPr>
          <a:xfrm rot="0">
            <a:off x="6950075" y="3054350"/>
            <a:ext cx="4387851" cy="566738"/>
          </a:xfrm>
          <a:prstGeom prst="rect"/>
          <a:solidFill>
            <a:srgbClr val="FFFFFF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171" name="Rectangle"/>
          <p:cNvSpPr>
            <a:spLocks/>
          </p:cNvSpPr>
          <p:nvPr/>
        </p:nvSpPr>
        <p:spPr>
          <a:xfrm rot="0">
            <a:off x="6950075" y="3054350"/>
            <a:ext cx="4387851" cy="56673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109728" tIns="109728" rIns="109728" bIns="109728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Cannot update deactivated records.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72" name="Rectangle"/>
          <p:cNvSpPr>
            <a:spLocks/>
          </p:cNvSpPr>
          <p:nvPr/>
        </p:nvSpPr>
        <p:spPr>
          <a:xfrm rot="0">
            <a:off x="549275" y="3621088"/>
            <a:ext cx="2011363" cy="566737"/>
          </a:xfrm>
          <a:prstGeom prst="rect"/>
          <a:solidFill>
            <a:srgbClr val="E9F1F4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173" name="Rectangle"/>
          <p:cNvSpPr>
            <a:spLocks/>
          </p:cNvSpPr>
          <p:nvPr/>
        </p:nvSpPr>
        <p:spPr>
          <a:xfrm rot="0">
            <a:off x="549275" y="3621088"/>
            <a:ext cx="2011363" cy="5667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109728" tIns="109728" rIns="109728" bIns="109728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Delete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74" name="Rectangle"/>
          <p:cNvSpPr>
            <a:spLocks/>
          </p:cNvSpPr>
          <p:nvPr/>
        </p:nvSpPr>
        <p:spPr>
          <a:xfrm rot="0">
            <a:off x="2560638" y="3621088"/>
            <a:ext cx="4389437" cy="566737"/>
          </a:xfrm>
          <a:prstGeom prst="rect"/>
          <a:solidFill>
            <a:srgbClr val="E9F1F4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175" name="Rectangle"/>
          <p:cNvSpPr>
            <a:spLocks/>
          </p:cNvSpPr>
          <p:nvPr/>
        </p:nvSpPr>
        <p:spPr>
          <a:xfrm rot="0">
            <a:off x="2560638" y="3621088"/>
            <a:ext cx="4389437" cy="5667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109728" tIns="109728" rIns="109728" bIns="109728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Set isActive = false (Soft Delete)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76" name="Rectangle"/>
          <p:cNvSpPr>
            <a:spLocks/>
          </p:cNvSpPr>
          <p:nvPr/>
        </p:nvSpPr>
        <p:spPr>
          <a:xfrm rot="0">
            <a:off x="6950075" y="3621088"/>
            <a:ext cx="4387851" cy="566737"/>
          </a:xfrm>
          <a:prstGeom prst="rect"/>
          <a:solidFill>
            <a:srgbClr val="E9F1F4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177" name="Rectangle"/>
          <p:cNvSpPr>
            <a:spLocks/>
          </p:cNvSpPr>
          <p:nvPr/>
        </p:nvSpPr>
        <p:spPr>
          <a:xfrm rot="0">
            <a:off x="6950075" y="3621088"/>
            <a:ext cx="4387851" cy="5667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109728" tIns="109728" rIns="109728" bIns="109728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Record is hidden but still in database.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78" name="Rounded rectangle"/>
          <p:cNvSpPr>
            <a:spLocks/>
          </p:cNvSpPr>
          <p:nvPr/>
        </p:nvSpPr>
        <p:spPr>
          <a:xfrm rot="0">
            <a:off x="549275" y="4508500"/>
            <a:ext cx="10788650" cy="547688"/>
          </a:xfrm>
          <a:prstGeom prst="roundRect">
            <a:avLst>
              <a:gd name="adj" fmla="val 13333"/>
            </a:avLst>
          </a:prstGeom>
          <a:solidFill>
            <a:srgbClr val="00A896">
              <a:alpha val="15000"/>
            </a:srgbClr>
          </a:solidFill>
          <a:ln w="12700" cmpd="sng" cap="flat">
            <a:solidFill>
              <a:srgbClr val="00A896"/>
            </a:solidFill>
            <a:prstDash val="solid"/>
            <a:round/>
          </a:ln>
        </p:spPr>
      </p:sp>
      <p:sp>
        <p:nvSpPr>
          <p:cNvPr id="179" name="Rectangle"/>
          <p:cNvSpPr>
            <a:spLocks/>
          </p:cNvSpPr>
          <p:nvPr/>
        </p:nvSpPr>
        <p:spPr>
          <a:xfrm rot="0">
            <a:off x="731838" y="4508500"/>
            <a:ext cx="10058401" cy="54768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Benefits: Keeps data history, can be restored, better for auditing.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80" name="Rectangle"/>
          <p:cNvSpPr>
            <a:spLocks/>
          </p:cNvSpPr>
          <p:nvPr/>
        </p:nvSpPr>
        <p:spPr>
          <a:xfrm rot="0">
            <a:off x="457200" y="6492875"/>
            <a:ext cx="54864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Healthcare Equipment System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81" name="Rectangle"/>
          <p:cNvSpPr>
            <a:spLocks/>
          </p:cNvSpPr>
          <p:nvPr/>
        </p:nvSpPr>
        <p:spPr>
          <a:xfrm rot="0">
            <a:off x="11277600" y="6492875"/>
            <a:ext cx="4572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7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40760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"/>
          <p:cNvSpPr>
            <a:spLocks/>
          </p:cNvSpPr>
          <p:nvPr/>
        </p:nvSpPr>
        <p:spPr>
          <a:xfrm rot="0">
            <a:off x="549275" y="365124"/>
            <a:ext cx="10058401" cy="5492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21295C"/>
                </a:solidFill>
                <a:latin typeface="Cambria" pitchFamily="18" charset="0"/>
                <a:ea typeface="宋体" pitchFamily="0" charset="0"/>
                <a:cs typeface="Arial" pitchFamily="34" charset="0"/>
              </a:rPr>
              <a:t>isActive — Soft Delete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86" name="Rectangle"/>
          <p:cNvSpPr>
            <a:spLocks/>
          </p:cNvSpPr>
          <p:nvPr/>
        </p:nvSpPr>
        <p:spPr>
          <a:xfrm rot="0">
            <a:off x="549275" y="895349"/>
            <a:ext cx="10058401" cy="32067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Deactivating records instead of deleting them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87" name="Rectangle"/>
          <p:cNvSpPr>
            <a:spLocks/>
          </p:cNvSpPr>
          <p:nvPr/>
        </p:nvSpPr>
        <p:spPr>
          <a:xfrm rot="0">
            <a:off x="549275" y="1371600"/>
            <a:ext cx="5119688" cy="32067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What is isActive?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88" name="Rectangle"/>
          <p:cNvSpPr>
            <a:spLocks/>
          </p:cNvSpPr>
          <p:nvPr/>
        </p:nvSpPr>
        <p:spPr>
          <a:xfrm rot="0">
            <a:off x="549275" y="1736724"/>
            <a:ext cx="5119688" cy="6413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Instead of deleting records permanently from the database, the system uses the isActive field to deactivate a record.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189" name="Rectangle"/>
          <p:cNvSpPr>
            <a:spLocks/>
          </p:cNvSpPr>
          <p:nvPr/>
        </p:nvSpPr>
        <p:spPr>
          <a:xfrm rot="0">
            <a:off x="549275" y="2422525"/>
            <a:ext cx="5119688" cy="2746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BaseEntity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90" name="Rounded rectangle"/>
          <p:cNvSpPr>
            <a:spLocks/>
          </p:cNvSpPr>
          <p:nvPr/>
        </p:nvSpPr>
        <p:spPr>
          <a:xfrm rot="0">
            <a:off x="549275" y="2724150"/>
            <a:ext cx="5211763" cy="2606673"/>
          </a:xfrm>
          <a:prstGeom prst="roundRect">
            <a:avLst>
              <a:gd name="adj" fmla="val 2106"/>
            </a:avLst>
          </a:prstGeom>
          <a:solidFill>
            <a:srgbClr val="21295C"/>
          </a:solidFill>
          <a:ln w="12700" cmpd="sng" cap="flat">
            <a:noFill/>
            <a:prstDash val="solid"/>
            <a:round/>
          </a:ln>
        </p:spPr>
      </p:sp>
      <p:sp>
        <p:nvSpPr>
          <p:cNvPr id="191" name="Rectangle"/>
          <p:cNvSpPr>
            <a:spLocks/>
          </p:cNvSpPr>
          <p:nvPr/>
        </p:nvSpPr>
        <p:spPr>
          <a:xfrm rot="0">
            <a:off x="731838" y="2835275"/>
            <a:ext cx="4891087" cy="24225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@MappedSuperclass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 eaLnBrk="1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public abstract class BaseEntity {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 eaLnBrk="1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 eaLnBrk="1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@Id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 eaLnBrk="1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@GeneratedValue(strategy = IDENTITY)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 eaLnBrk="1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private Integer id;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 eaLnBrk="1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 eaLnBrk="1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private LocalDateTime createdDate;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 eaLnBrk="1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private LocalDateTime updatedDate;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 eaLnBrk="1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 eaLnBrk="1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private Boolean isActive = true;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 eaLnBrk="1" fontAlgn="auto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}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192" name="Rectangle"/>
          <p:cNvSpPr>
            <a:spLocks/>
          </p:cNvSpPr>
          <p:nvPr/>
        </p:nvSpPr>
        <p:spPr>
          <a:xfrm rot="0">
            <a:off x="6126163" y="1371600"/>
            <a:ext cx="5486400" cy="32067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How It Works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93" name="Rounded rectangle"/>
          <p:cNvSpPr>
            <a:spLocks/>
          </p:cNvSpPr>
          <p:nvPr/>
        </p:nvSpPr>
        <p:spPr>
          <a:xfrm rot="0">
            <a:off x="6126163" y="1828800"/>
            <a:ext cx="5486400" cy="77787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50800" dist="25400" dir="5400000">
              <a:srgbClr val="5A6B7A">
                <a:alpha val="14509"/>
              </a:srgbClr>
            </a:outerShdw>
          </a:effectLst>
        </p:spPr>
      </p:sp>
      <p:sp>
        <p:nvSpPr>
          <p:cNvPr id="194" name="Oval"/>
          <p:cNvSpPr>
            <a:spLocks/>
          </p:cNvSpPr>
          <p:nvPr/>
        </p:nvSpPr>
        <p:spPr>
          <a:xfrm rot="0">
            <a:off x="6264275" y="1957388"/>
            <a:ext cx="530225" cy="530225"/>
          </a:xfrm>
          <a:prstGeom prst="ellipse"/>
          <a:solidFill>
            <a:srgbClr val="1C7293"/>
          </a:solidFill>
          <a:ln w="12700" cmpd="sng" cap="flat">
            <a:noFill/>
            <a:prstDash val="solid"/>
            <a:round/>
          </a:ln>
        </p:spPr>
      </p:sp>
      <p:pic>
        <p:nvPicPr>
          <p:cNvPr id="195" name="Image" descr="icon_plus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381750" y="2076450"/>
            <a:ext cx="293688" cy="292098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196" name="Rectangle"/>
          <p:cNvSpPr>
            <a:spLocks/>
          </p:cNvSpPr>
          <p:nvPr/>
        </p:nvSpPr>
        <p:spPr>
          <a:xfrm rot="0">
            <a:off x="6950075" y="1901825"/>
            <a:ext cx="4479925" cy="3206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Add / Create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197" name="Rectangle"/>
          <p:cNvSpPr>
            <a:spLocks/>
          </p:cNvSpPr>
          <p:nvPr/>
        </p:nvSpPr>
        <p:spPr>
          <a:xfrm rot="0">
            <a:off x="6950075" y="2212975"/>
            <a:ext cx="4479925" cy="3206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isActive = true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198" name="Rounded rectangle"/>
          <p:cNvSpPr>
            <a:spLocks/>
          </p:cNvSpPr>
          <p:nvPr/>
        </p:nvSpPr>
        <p:spPr>
          <a:xfrm rot="0">
            <a:off x="6126163" y="2762249"/>
            <a:ext cx="5486400" cy="776287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50800" dist="25400" dir="5400000">
              <a:srgbClr val="5A6B7A">
                <a:alpha val="14509"/>
              </a:srgbClr>
            </a:outerShdw>
          </a:effectLst>
        </p:spPr>
      </p:sp>
      <p:sp>
        <p:nvSpPr>
          <p:cNvPr id="199" name="Oval"/>
          <p:cNvSpPr>
            <a:spLocks/>
          </p:cNvSpPr>
          <p:nvPr/>
        </p:nvSpPr>
        <p:spPr>
          <a:xfrm rot="0">
            <a:off x="6264275" y="2889250"/>
            <a:ext cx="530225" cy="530224"/>
          </a:xfrm>
          <a:prstGeom prst="ellipse"/>
          <a:solidFill>
            <a:srgbClr val="1C7293"/>
          </a:solidFill>
          <a:ln w="12700" cmpd="sng" cap="flat">
            <a:noFill/>
            <a:prstDash val="solid"/>
            <a:round/>
          </a:ln>
        </p:spPr>
      </p:sp>
      <p:pic>
        <p:nvPicPr>
          <p:cNvPr id="200" name="Image" descr="icon_edi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381750" y="3008313"/>
            <a:ext cx="293688" cy="292100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201" name="Rectangle"/>
          <p:cNvSpPr>
            <a:spLocks/>
          </p:cNvSpPr>
          <p:nvPr/>
        </p:nvSpPr>
        <p:spPr>
          <a:xfrm rot="0">
            <a:off x="6950075" y="2835275"/>
            <a:ext cx="4479925" cy="3190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Update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02" name="Rectangle"/>
          <p:cNvSpPr>
            <a:spLocks/>
          </p:cNvSpPr>
          <p:nvPr/>
        </p:nvSpPr>
        <p:spPr>
          <a:xfrm rot="0">
            <a:off x="6950075" y="3144838"/>
            <a:ext cx="4479925" cy="3206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Update fields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03" name="Rounded rectangle"/>
          <p:cNvSpPr>
            <a:spLocks/>
          </p:cNvSpPr>
          <p:nvPr/>
        </p:nvSpPr>
        <p:spPr>
          <a:xfrm rot="0">
            <a:off x="6126163" y="3694113"/>
            <a:ext cx="5486400" cy="77787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50800" dist="25400" dir="5400000">
              <a:srgbClr val="5A6B7A">
                <a:alpha val="14509"/>
              </a:srgbClr>
            </a:outerShdw>
          </a:effectLst>
        </p:spPr>
      </p:sp>
      <p:sp>
        <p:nvSpPr>
          <p:cNvPr id="204" name="Oval"/>
          <p:cNvSpPr>
            <a:spLocks/>
          </p:cNvSpPr>
          <p:nvPr/>
        </p:nvSpPr>
        <p:spPr>
          <a:xfrm rot="0">
            <a:off x="6264275" y="3822700"/>
            <a:ext cx="530225" cy="530224"/>
          </a:xfrm>
          <a:prstGeom prst="ellipse"/>
          <a:solidFill>
            <a:srgbClr val="1C7293"/>
          </a:solidFill>
          <a:ln w="12700" cmpd="sng" cap="flat">
            <a:noFill/>
            <a:prstDash val="solid"/>
            <a:round/>
          </a:ln>
        </p:spPr>
      </p:sp>
      <p:pic>
        <p:nvPicPr>
          <p:cNvPr id="205" name="Image" descr="icon_trash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6381750" y="3941763"/>
            <a:ext cx="293688" cy="292100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206" name="Rectangle"/>
          <p:cNvSpPr>
            <a:spLocks/>
          </p:cNvSpPr>
          <p:nvPr/>
        </p:nvSpPr>
        <p:spPr>
          <a:xfrm rot="0">
            <a:off x="6950075" y="3767138"/>
            <a:ext cx="4479925" cy="3206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Delete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07" name="Rectangle"/>
          <p:cNvSpPr>
            <a:spLocks/>
          </p:cNvSpPr>
          <p:nvPr/>
        </p:nvSpPr>
        <p:spPr>
          <a:xfrm rot="0">
            <a:off x="6950075" y="4078288"/>
            <a:ext cx="4479925" cy="3206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isActive = false (not physically deleted)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08" name="Rounded rectangle"/>
          <p:cNvSpPr>
            <a:spLocks/>
          </p:cNvSpPr>
          <p:nvPr/>
        </p:nvSpPr>
        <p:spPr>
          <a:xfrm rot="0">
            <a:off x="6126163" y="4627563"/>
            <a:ext cx="5486400" cy="776287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50800" dist="25400" dir="5400000">
              <a:srgbClr val="5A6B7A">
                <a:alpha val="14509"/>
              </a:srgbClr>
            </a:outerShdw>
          </a:effectLst>
        </p:spPr>
      </p:sp>
      <p:sp>
        <p:nvSpPr>
          <p:cNvPr id="209" name="Oval"/>
          <p:cNvSpPr>
            <a:spLocks/>
          </p:cNvSpPr>
          <p:nvPr/>
        </p:nvSpPr>
        <p:spPr>
          <a:xfrm rot="0">
            <a:off x="6264275" y="4754563"/>
            <a:ext cx="530225" cy="530225"/>
          </a:xfrm>
          <a:prstGeom prst="ellipse"/>
          <a:solidFill>
            <a:srgbClr val="1C7293"/>
          </a:solidFill>
          <a:ln w="12700" cmpd="sng" cap="flat">
            <a:noFill/>
            <a:prstDash val="solid"/>
            <a:round/>
          </a:ln>
        </p:spPr>
      </p:sp>
      <p:pic>
        <p:nvPicPr>
          <p:cNvPr id="210" name="Image" descr="icon_ey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381750" y="4873625"/>
            <a:ext cx="293688" cy="292099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211" name="Rectangle"/>
          <p:cNvSpPr>
            <a:spLocks/>
          </p:cNvSpPr>
          <p:nvPr/>
        </p:nvSpPr>
        <p:spPr>
          <a:xfrm rot="0">
            <a:off x="6950075" y="4700588"/>
            <a:ext cx="4479925" cy="3190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Get / List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12" name="Rectangle"/>
          <p:cNvSpPr>
            <a:spLocks/>
          </p:cNvSpPr>
          <p:nvPr/>
        </p:nvSpPr>
        <p:spPr>
          <a:xfrm rot="0">
            <a:off x="6950075" y="5010150"/>
            <a:ext cx="4479925" cy="3206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Fetch only where isActive = true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13" name="Rectangle"/>
          <p:cNvSpPr>
            <a:spLocks/>
          </p:cNvSpPr>
          <p:nvPr/>
        </p:nvSpPr>
        <p:spPr>
          <a:xfrm rot="0">
            <a:off x="457200" y="6492875"/>
            <a:ext cx="54864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Healthcare Equipment System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14" name="Rectangle"/>
          <p:cNvSpPr>
            <a:spLocks/>
          </p:cNvSpPr>
          <p:nvPr/>
        </p:nvSpPr>
        <p:spPr>
          <a:xfrm rot="0">
            <a:off x="11277600" y="6492875"/>
            <a:ext cx="4572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6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90079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"/>
          <p:cNvSpPr>
            <a:spLocks/>
          </p:cNvSpPr>
          <p:nvPr/>
        </p:nvSpPr>
        <p:spPr>
          <a:xfrm rot="0">
            <a:off x="549275" y="365124"/>
            <a:ext cx="10058401" cy="5492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18" charset="0"/>
                <a:ea typeface="宋体" pitchFamily="0" charset="0"/>
                <a:cs typeface="Arial" pitchFamily="34" charset="0"/>
              </a:rPr>
              <a:t>Docker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19" name="Rectangle"/>
          <p:cNvSpPr>
            <a:spLocks/>
          </p:cNvSpPr>
          <p:nvPr/>
        </p:nvSpPr>
        <p:spPr>
          <a:xfrm rot="0">
            <a:off x="549275" y="895349"/>
            <a:ext cx="10058401" cy="32067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Containerized packaging and deployment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20" name="Oval"/>
          <p:cNvSpPr>
            <a:spLocks/>
          </p:cNvSpPr>
          <p:nvPr/>
        </p:nvSpPr>
        <p:spPr>
          <a:xfrm rot="0">
            <a:off x="549275" y="1417638"/>
            <a:ext cx="501650" cy="503237"/>
          </a:xfrm>
          <a:prstGeom prst="ellipse"/>
          <a:solidFill>
            <a:srgbClr val="0DB7ED"/>
          </a:solidFill>
          <a:ln w="12700" cmpd="sng" cap="flat">
            <a:noFill/>
            <a:prstDash val="solid"/>
            <a:round/>
          </a:ln>
        </p:spPr>
      </p:sp>
      <p:pic>
        <p:nvPicPr>
          <p:cNvPr id="221" name="Image" descr="icon_docker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39763" y="1508125"/>
            <a:ext cx="320674" cy="320674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222" name="Rectangle"/>
          <p:cNvSpPr>
            <a:spLocks/>
          </p:cNvSpPr>
          <p:nvPr/>
        </p:nvSpPr>
        <p:spPr>
          <a:xfrm rot="0">
            <a:off x="1189038" y="1463675"/>
            <a:ext cx="41148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Why Docker?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pic>
        <p:nvPicPr>
          <p:cNvPr id="223" name="Image" descr="icon_chec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93725" y="2076450"/>
            <a:ext cx="201613" cy="200025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224" name="Rectangle"/>
          <p:cNvSpPr>
            <a:spLocks/>
          </p:cNvSpPr>
          <p:nvPr/>
        </p:nvSpPr>
        <p:spPr>
          <a:xfrm rot="0">
            <a:off x="914400" y="2011363"/>
            <a:ext cx="4206875" cy="3667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Consistent environment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pic>
        <p:nvPicPr>
          <p:cNvPr id="225" name="Image" descr="icon_che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593725" y="2514600"/>
            <a:ext cx="201613" cy="201613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226" name="Rectangle"/>
          <p:cNvSpPr>
            <a:spLocks/>
          </p:cNvSpPr>
          <p:nvPr/>
        </p:nvSpPr>
        <p:spPr>
          <a:xfrm rot="0">
            <a:off x="914400" y="2451100"/>
            <a:ext cx="4206875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Easy deployment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pic>
        <p:nvPicPr>
          <p:cNvPr id="227" name="Image" descr="icon_check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593725" y="2952750"/>
            <a:ext cx="201613" cy="201613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228" name="Rectangle"/>
          <p:cNvSpPr>
            <a:spLocks/>
          </p:cNvSpPr>
          <p:nvPr/>
        </p:nvSpPr>
        <p:spPr>
          <a:xfrm rot="0">
            <a:off x="914400" y="2889250"/>
            <a:ext cx="4206875" cy="3667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Lightweight and portable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pic>
        <p:nvPicPr>
          <p:cNvPr id="229" name="Image" descr="icon_check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593725" y="3392487"/>
            <a:ext cx="201613" cy="201611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230" name="Rectangle"/>
          <p:cNvSpPr>
            <a:spLocks/>
          </p:cNvSpPr>
          <p:nvPr/>
        </p:nvSpPr>
        <p:spPr>
          <a:xfrm rot="0">
            <a:off x="914400" y="3328988"/>
            <a:ext cx="4206875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Works on any machine with Docker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31" name="Rectangle"/>
          <p:cNvSpPr>
            <a:spLocks/>
          </p:cNvSpPr>
          <p:nvPr/>
        </p:nvSpPr>
        <p:spPr>
          <a:xfrm rot="0">
            <a:off x="549275" y="3932238"/>
            <a:ext cx="5119688" cy="274636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.Dockerfile (Example)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32" name="Rounded rectangle"/>
          <p:cNvSpPr>
            <a:spLocks/>
          </p:cNvSpPr>
          <p:nvPr/>
        </p:nvSpPr>
        <p:spPr>
          <a:xfrm rot="0">
            <a:off x="549275" y="4224338"/>
            <a:ext cx="5119688" cy="1966912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 w="12700" cmpd="sng" cap="flat">
            <a:noFill/>
            <a:prstDash val="solid"/>
            <a:round/>
          </a:ln>
        </p:spPr>
      </p:sp>
      <p:sp>
        <p:nvSpPr>
          <p:cNvPr id="233" name="Rectangle"/>
          <p:cNvSpPr>
            <a:spLocks/>
          </p:cNvSpPr>
          <p:nvPr/>
        </p:nvSpPr>
        <p:spPr>
          <a:xfrm rot="0">
            <a:off x="731838" y="4343400"/>
            <a:ext cx="4800600" cy="1736723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FROM eclipse-temurin:17-jdk-alpine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WORKDIR /app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COPY target/*.jar app.jar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EXPOSE 8080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ENTRYPOINT ["java","-jar","app.jar"]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34" name="Rectangle"/>
          <p:cNvSpPr>
            <a:spLocks/>
          </p:cNvSpPr>
          <p:nvPr/>
        </p:nvSpPr>
        <p:spPr>
          <a:xfrm rot="0">
            <a:off x="6126163" y="1463675"/>
            <a:ext cx="5486400" cy="27304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.Build &amp; Run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35" name="Rounded rectangle"/>
          <p:cNvSpPr>
            <a:spLocks/>
          </p:cNvSpPr>
          <p:nvPr/>
        </p:nvSpPr>
        <p:spPr>
          <a:xfrm rot="0">
            <a:off x="6126163" y="1755775"/>
            <a:ext cx="5486400" cy="4435475"/>
          </a:xfrm>
          <a:prstGeom prst="roundRect">
            <a:avLst>
              <a:gd name="adj" fmla="val 1236"/>
            </a:avLst>
          </a:prstGeom>
          <a:solidFill>
            <a:srgbClr val="21295C"/>
          </a:solidFill>
          <a:ln w="12700" cmpd="sng" cap="flat">
            <a:noFill/>
            <a:prstDash val="solid"/>
            <a:round/>
          </a:ln>
        </p:spPr>
      </p:sp>
      <p:sp>
        <p:nvSpPr>
          <p:cNvPr id="236" name="Rectangle"/>
          <p:cNvSpPr>
            <a:spLocks/>
          </p:cNvSpPr>
          <p:nvPr/>
        </p:nvSpPr>
        <p:spPr>
          <a:xfrm rot="0">
            <a:off x="6308724" y="1920875"/>
            <a:ext cx="5121275" cy="411479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# Build image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docker build -t \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healthcare-equipment-system .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# Run container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docker run -p 8080:8080 \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--name hes-container \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healthcare-equipment-system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37" name="Rectangle"/>
          <p:cNvSpPr>
            <a:spLocks/>
          </p:cNvSpPr>
          <p:nvPr/>
        </p:nvSpPr>
        <p:spPr>
          <a:xfrm rot="0">
            <a:off x="457200" y="6492875"/>
            <a:ext cx="54864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Healthcare Equipment System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38" name="Rectangle"/>
          <p:cNvSpPr>
            <a:spLocks/>
          </p:cNvSpPr>
          <p:nvPr/>
        </p:nvSpPr>
        <p:spPr>
          <a:xfrm rot="0">
            <a:off x="11277600" y="6492875"/>
            <a:ext cx="4572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8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100036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"/>
          <p:cNvSpPr>
            <a:spLocks/>
          </p:cNvSpPr>
          <p:nvPr/>
        </p:nvSpPr>
        <p:spPr>
          <a:xfrm rot="0">
            <a:off x="549275" y="365124"/>
            <a:ext cx="10058401" cy="5492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18" charset="0"/>
                <a:ea typeface="宋体" pitchFamily="0" charset="0"/>
                <a:cs typeface="Arial" pitchFamily="34" charset="0"/>
              </a:rPr>
              <a:t>docker-compose.yml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43" name="Rounded rectangle"/>
          <p:cNvSpPr>
            <a:spLocks/>
          </p:cNvSpPr>
          <p:nvPr/>
        </p:nvSpPr>
        <p:spPr>
          <a:xfrm rot="0">
            <a:off x="549275" y="1417638"/>
            <a:ext cx="6948488" cy="4891087"/>
          </a:xfrm>
          <a:prstGeom prst="roundRect">
            <a:avLst>
              <a:gd name="adj" fmla="val 1120"/>
            </a:avLst>
          </a:prstGeom>
          <a:solidFill>
            <a:srgbClr val="21295C"/>
          </a:solidFill>
          <a:ln w="12700" cmpd="sng" cap="flat">
            <a:noFill/>
            <a:prstDash val="solid"/>
            <a:round/>
          </a:ln>
        </p:spPr>
      </p:sp>
      <p:sp>
        <p:nvSpPr>
          <p:cNvPr id="244" name="Rectangle"/>
          <p:cNvSpPr>
            <a:spLocks/>
          </p:cNvSpPr>
          <p:nvPr/>
        </p:nvSpPr>
        <p:spPr>
          <a:xfrm rot="0">
            <a:off x="731838" y="1536700"/>
            <a:ext cx="6629400" cy="46624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version: '3.8'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services: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app: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build: .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container_name: hes-app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ports: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  - "8080:8080"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depends_on: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  - db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environment: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  SPRING_DATASOURCE_URL: jdbc:mysql://db:3306/hes_db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  SPRING_DATASOURCE_USERNAME: root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  SPRING_DATASOURCE_PASSWORD: root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restart: unless-stopped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db: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image: mysql:8.0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container_name: hes-mysql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environment: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  MYSQL_DATABASE: hes_db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  MYSQL_ROOT_PASSWORD: root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ports: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  - "3306:3306"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volumes: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    - db_data:/var/lib/mysql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volumes: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宋体" pitchFamily="0" charset="0"/>
                <a:cs typeface="Courier New" pitchFamily="34" charset="0"/>
              </a:rPr>
              <a:t>  db_data: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45" name="Rectangle"/>
          <p:cNvSpPr>
            <a:spLocks/>
          </p:cNvSpPr>
          <p:nvPr/>
        </p:nvSpPr>
        <p:spPr>
          <a:xfrm rot="0">
            <a:off x="7772400" y="1417638"/>
            <a:ext cx="3932238" cy="3190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How to Run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46" name="Oval"/>
          <p:cNvSpPr>
            <a:spLocks/>
          </p:cNvSpPr>
          <p:nvPr/>
        </p:nvSpPr>
        <p:spPr>
          <a:xfrm rot="0">
            <a:off x="7772400" y="1874838"/>
            <a:ext cx="365125" cy="365124"/>
          </a:xfrm>
          <a:prstGeom prst="ellipse"/>
          <a:solidFill>
            <a:srgbClr val="1C7293"/>
          </a:solidFill>
          <a:ln w="12700" cmpd="sng" cap="flat">
            <a:noFill/>
            <a:prstDash val="solid"/>
            <a:round/>
          </a:ln>
        </p:spPr>
      </p:sp>
      <p:sp>
        <p:nvSpPr>
          <p:cNvPr id="247" name="Rectangle"/>
          <p:cNvSpPr>
            <a:spLocks/>
          </p:cNvSpPr>
          <p:nvPr/>
        </p:nvSpPr>
        <p:spPr>
          <a:xfrm rot="0">
            <a:off x="7772400" y="1874838"/>
            <a:ext cx="365125" cy="3651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1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48" name="Rectangle"/>
          <p:cNvSpPr>
            <a:spLocks/>
          </p:cNvSpPr>
          <p:nvPr/>
        </p:nvSpPr>
        <p:spPr>
          <a:xfrm rot="0">
            <a:off x="8275638" y="1847850"/>
            <a:ext cx="3428999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Make sure Docker &amp; Docker Compose are installed.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49" name="Oval"/>
          <p:cNvSpPr>
            <a:spLocks/>
          </p:cNvSpPr>
          <p:nvPr/>
        </p:nvSpPr>
        <p:spPr>
          <a:xfrm rot="0">
            <a:off x="7772400" y="2925762"/>
            <a:ext cx="365125" cy="366711"/>
          </a:xfrm>
          <a:prstGeom prst="ellipse"/>
          <a:solidFill>
            <a:srgbClr val="1C7293"/>
          </a:solidFill>
          <a:ln w="12700" cmpd="sng" cap="flat">
            <a:noFill/>
            <a:prstDash val="solid"/>
            <a:round/>
          </a:ln>
        </p:spPr>
      </p:sp>
      <p:sp>
        <p:nvSpPr>
          <p:cNvPr id="250" name="Rectangle"/>
          <p:cNvSpPr>
            <a:spLocks/>
          </p:cNvSpPr>
          <p:nvPr/>
        </p:nvSpPr>
        <p:spPr>
          <a:xfrm rot="0">
            <a:off x="7772400" y="2925762"/>
            <a:ext cx="365125" cy="366711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2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51" name="Rectangle"/>
          <p:cNvSpPr>
            <a:spLocks/>
          </p:cNvSpPr>
          <p:nvPr/>
        </p:nvSpPr>
        <p:spPr>
          <a:xfrm rot="0">
            <a:off x="8275638" y="2898775"/>
            <a:ext cx="3428999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Navigate to the project root.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52" name="Oval"/>
          <p:cNvSpPr>
            <a:spLocks/>
          </p:cNvSpPr>
          <p:nvPr/>
        </p:nvSpPr>
        <p:spPr>
          <a:xfrm rot="0">
            <a:off x="7772400" y="3978275"/>
            <a:ext cx="365125" cy="365125"/>
          </a:xfrm>
          <a:prstGeom prst="ellipse"/>
          <a:solidFill>
            <a:srgbClr val="1C7293"/>
          </a:solidFill>
          <a:ln w="12700" cmpd="sng" cap="flat">
            <a:noFill/>
            <a:prstDash val="solid"/>
            <a:round/>
          </a:ln>
        </p:spPr>
      </p:sp>
      <p:sp>
        <p:nvSpPr>
          <p:cNvPr id="253" name="Rectangle"/>
          <p:cNvSpPr>
            <a:spLocks/>
          </p:cNvSpPr>
          <p:nvPr/>
        </p:nvSpPr>
        <p:spPr>
          <a:xfrm rot="0">
            <a:off x="7772400" y="3978275"/>
            <a:ext cx="365125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3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54" name="Rectangle"/>
          <p:cNvSpPr>
            <a:spLocks/>
          </p:cNvSpPr>
          <p:nvPr/>
        </p:nvSpPr>
        <p:spPr>
          <a:xfrm rot="0">
            <a:off x="8275638" y="3949700"/>
            <a:ext cx="3428999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Run the command: docker-compose up -d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55" name="Oval"/>
          <p:cNvSpPr>
            <a:spLocks/>
          </p:cNvSpPr>
          <p:nvPr/>
        </p:nvSpPr>
        <p:spPr>
          <a:xfrm rot="0">
            <a:off x="7772400" y="5029200"/>
            <a:ext cx="365125" cy="365125"/>
          </a:xfrm>
          <a:prstGeom prst="ellipse"/>
          <a:solidFill>
            <a:srgbClr val="1C7293"/>
          </a:solidFill>
          <a:ln w="12700" cmpd="sng" cap="flat">
            <a:noFill/>
            <a:prstDash val="solid"/>
            <a:round/>
          </a:ln>
        </p:spPr>
      </p:sp>
      <p:sp>
        <p:nvSpPr>
          <p:cNvPr id="256" name="Rectangle"/>
          <p:cNvSpPr>
            <a:spLocks/>
          </p:cNvSpPr>
          <p:nvPr/>
        </p:nvSpPr>
        <p:spPr>
          <a:xfrm rot="0">
            <a:off x="7772400" y="5029200"/>
            <a:ext cx="365125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4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57" name="Rectangle"/>
          <p:cNvSpPr>
            <a:spLocks/>
          </p:cNvSpPr>
          <p:nvPr/>
        </p:nvSpPr>
        <p:spPr>
          <a:xfrm rot="0">
            <a:off x="8275638" y="5002213"/>
            <a:ext cx="3428999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1B24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Application will be available at http://localhost:8080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58" name="Rectangle"/>
          <p:cNvSpPr>
            <a:spLocks/>
          </p:cNvSpPr>
          <p:nvPr/>
        </p:nvSpPr>
        <p:spPr>
          <a:xfrm rot="0">
            <a:off x="457200" y="6492875"/>
            <a:ext cx="54864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Healthcare Equipment System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59" name="Rectangle"/>
          <p:cNvSpPr>
            <a:spLocks/>
          </p:cNvSpPr>
          <p:nvPr/>
        </p:nvSpPr>
        <p:spPr>
          <a:xfrm rot="0">
            <a:off x="11277600" y="6492875"/>
            <a:ext cx="4572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9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941728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"/>
          <p:cNvSpPr>
            <a:spLocks/>
          </p:cNvSpPr>
          <p:nvPr/>
        </p:nvSpPr>
        <p:spPr>
          <a:xfrm rot="0">
            <a:off x="549275" y="365124"/>
            <a:ext cx="10058401" cy="5492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18" charset="0"/>
                <a:ea typeface="宋体" pitchFamily="0" charset="0"/>
                <a:cs typeface="Arial" pitchFamily="34" charset="0"/>
              </a:rPr>
              <a:t>API Endpoints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64" name="Rectangle"/>
          <p:cNvSpPr>
            <a:spLocks/>
          </p:cNvSpPr>
          <p:nvPr/>
        </p:nvSpPr>
        <p:spPr>
          <a:xfrm rot="0">
            <a:off x="549275" y="1463675"/>
            <a:ext cx="9874251" cy="530224"/>
          </a:xfrm>
          <a:prstGeom prst="rect"/>
          <a:solidFill>
            <a:srgbClr val="FFFFFF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265" name="Rounded rectangle"/>
          <p:cNvSpPr>
            <a:spLocks/>
          </p:cNvSpPr>
          <p:nvPr/>
        </p:nvSpPr>
        <p:spPr>
          <a:xfrm rot="0">
            <a:off x="658813" y="1554163"/>
            <a:ext cx="1004887" cy="347662"/>
          </a:xfrm>
          <a:prstGeom prst="roundRect">
            <a:avLst>
              <a:gd name="adj" fmla="val 15787"/>
            </a:avLst>
          </a:prstGeom>
          <a:solidFill>
            <a:srgbClr val="1E8A5F"/>
          </a:solidFill>
          <a:ln w="12700" cmpd="sng" cap="flat">
            <a:noFill/>
            <a:prstDash val="solid"/>
            <a:round/>
          </a:ln>
        </p:spPr>
      </p:sp>
      <p:sp>
        <p:nvSpPr>
          <p:cNvPr id="266" name="Rectangle"/>
          <p:cNvSpPr>
            <a:spLocks/>
          </p:cNvSpPr>
          <p:nvPr/>
        </p:nvSpPr>
        <p:spPr>
          <a:xfrm rot="0">
            <a:off x="658813" y="1554163"/>
            <a:ext cx="1004887" cy="3476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GET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67" name="Rectangle"/>
          <p:cNvSpPr>
            <a:spLocks/>
          </p:cNvSpPr>
          <p:nvPr/>
        </p:nvSpPr>
        <p:spPr>
          <a:xfrm rot="0">
            <a:off x="1874838" y="1463675"/>
            <a:ext cx="3840162" cy="5302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21295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/api/equipment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68" name="Rectangle"/>
          <p:cNvSpPr>
            <a:spLocks/>
          </p:cNvSpPr>
          <p:nvPr/>
        </p:nvSpPr>
        <p:spPr>
          <a:xfrm rot="0">
            <a:off x="5807075" y="1463675"/>
            <a:ext cx="4616448" cy="5302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Get all equipment (active)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69" name="Rectangle"/>
          <p:cNvSpPr>
            <a:spLocks/>
          </p:cNvSpPr>
          <p:nvPr/>
        </p:nvSpPr>
        <p:spPr>
          <a:xfrm rot="0">
            <a:off x="549275" y="1993900"/>
            <a:ext cx="9874251" cy="530224"/>
          </a:xfrm>
          <a:prstGeom prst="rect"/>
          <a:solidFill>
            <a:srgbClr val="E9F1F4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270" name="Rounded rectangle"/>
          <p:cNvSpPr>
            <a:spLocks/>
          </p:cNvSpPr>
          <p:nvPr/>
        </p:nvSpPr>
        <p:spPr>
          <a:xfrm rot="0">
            <a:off x="658813" y="2084388"/>
            <a:ext cx="1004887" cy="347662"/>
          </a:xfrm>
          <a:prstGeom prst="roundRect">
            <a:avLst>
              <a:gd name="adj" fmla="val 15787"/>
            </a:avLst>
          </a:prstGeom>
          <a:solidFill>
            <a:srgbClr val="1E8A5F"/>
          </a:solidFill>
          <a:ln w="12700" cmpd="sng" cap="flat">
            <a:noFill/>
            <a:prstDash val="solid"/>
            <a:round/>
          </a:ln>
        </p:spPr>
      </p:sp>
      <p:sp>
        <p:nvSpPr>
          <p:cNvPr id="271" name="Rectangle"/>
          <p:cNvSpPr>
            <a:spLocks/>
          </p:cNvSpPr>
          <p:nvPr/>
        </p:nvSpPr>
        <p:spPr>
          <a:xfrm rot="0">
            <a:off x="658813" y="2084388"/>
            <a:ext cx="1004887" cy="3476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GET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72" name="Rectangle"/>
          <p:cNvSpPr>
            <a:spLocks/>
          </p:cNvSpPr>
          <p:nvPr/>
        </p:nvSpPr>
        <p:spPr>
          <a:xfrm rot="0">
            <a:off x="1874838" y="1993900"/>
            <a:ext cx="3840162" cy="5302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21295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/api/equipment/{id}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73" name="Rectangle"/>
          <p:cNvSpPr>
            <a:spLocks/>
          </p:cNvSpPr>
          <p:nvPr/>
        </p:nvSpPr>
        <p:spPr>
          <a:xfrm rot="0">
            <a:off x="5807075" y="1993900"/>
            <a:ext cx="4616448" cy="5302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Get equipment by id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74" name="Rectangle"/>
          <p:cNvSpPr>
            <a:spLocks/>
          </p:cNvSpPr>
          <p:nvPr/>
        </p:nvSpPr>
        <p:spPr>
          <a:xfrm rot="0">
            <a:off x="549275" y="2524125"/>
            <a:ext cx="9874251" cy="530224"/>
          </a:xfrm>
          <a:prstGeom prst="rect"/>
          <a:solidFill>
            <a:srgbClr val="FFFFFF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275" name="Rounded rectangle"/>
          <p:cNvSpPr>
            <a:spLocks/>
          </p:cNvSpPr>
          <p:nvPr/>
        </p:nvSpPr>
        <p:spPr>
          <a:xfrm rot="0">
            <a:off x="658813" y="2614613"/>
            <a:ext cx="1004887" cy="347662"/>
          </a:xfrm>
          <a:prstGeom prst="roundRect">
            <a:avLst>
              <a:gd name="adj" fmla="val 15787"/>
            </a:avLst>
          </a:prstGeom>
          <a:solidFill>
            <a:srgbClr val="065A82"/>
          </a:solidFill>
          <a:ln w="12700" cmpd="sng" cap="flat">
            <a:noFill/>
            <a:prstDash val="solid"/>
            <a:round/>
          </a:ln>
        </p:spPr>
      </p:sp>
      <p:sp>
        <p:nvSpPr>
          <p:cNvPr id="276" name="Rectangle"/>
          <p:cNvSpPr>
            <a:spLocks/>
          </p:cNvSpPr>
          <p:nvPr/>
        </p:nvSpPr>
        <p:spPr>
          <a:xfrm rot="0">
            <a:off x="658813" y="2614613"/>
            <a:ext cx="1004887" cy="3476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POST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77" name="Rectangle"/>
          <p:cNvSpPr>
            <a:spLocks/>
          </p:cNvSpPr>
          <p:nvPr/>
        </p:nvSpPr>
        <p:spPr>
          <a:xfrm rot="0">
            <a:off x="1874838" y="2524125"/>
            <a:ext cx="3840162" cy="5302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21295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/api/equipment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78" name="Rectangle"/>
          <p:cNvSpPr>
            <a:spLocks/>
          </p:cNvSpPr>
          <p:nvPr/>
        </p:nvSpPr>
        <p:spPr>
          <a:xfrm rot="0">
            <a:off x="5807075" y="2524125"/>
            <a:ext cx="4616448" cy="5302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Add new equipment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79" name="Rectangle"/>
          <p:cNvSpPr>
            <a:spLocks/>
          </p:cNvSpPr>
          <p:nvPr/>
        </p:nvSpPr>
        <p:spPr>
          <a:xfrm rot="0">
            <a:off x="549275" y="3054350"/>
            <a:ext cx="9874251" cy="530224"/>
          </a:xfrm>
          <a:prstGeom prst="rect"/>
          <a:solidFill>
            <a:srgbClr val="E9F1F4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280" name="Rounded rectangle"/>
          <p:cNvSpPr>
            <a:spLocks/>
          </p:cNvSpPr>
          <p:nvPr/>
        </p:nvSpPr>
        <p:spPr>
          <a:xfrm rot="0">
            <a:off x="658813" y="3144838"/>
            <a:ext cx="1004887" cy="347660"/>
          </a:xfrm>
          <a:prstGeom prst="roundRect">
            <a:avLst>
              <a:gd name="adj" fmla="val 15787"/>
            </a:avLst>
          </a:prstGeom>
          <a:solidFill>
            <a:srgbClr val="C9822B"/>
          </a:solidFill>
          <a:ln w="12700" cmpd="sng" cap="flat">
            <a:noFill/>
            <a:prstDash val="solid"/>
            <a:round/>
          </a:ln>
        </p:spPr>
      </p:sp>
      <p:sp>
        <p:nvSpPr>
          <p:cNvPr id="281" name="Rectangle"/>
          <p:cNvSpPr>
            <a:spLocks/>
          </p:cNvSpPr>
          <p:nvPr/>
        </p:nvSpPr>
        <p:spPr>
          <a:xfrm rot="0">
            <a:off x="658813" y="3144838"/>
            <a:ext cx="1004887" cy="3476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PUT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82" name="Rectangle"/>
          <p:cNvSpPr>
            <a:spLocks/>
          </p:cNvSpPr>
          <p:nvPr/>
        </p:nvSpPr>
        <p:spPr>
          <a:xfrm rot="0">
            <a:off x="1874838" y="3054350"/>
            <a:ext cx="3840162" cy="5302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21295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/api/equipment/{id}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83" name="Rectangle"/>
          <p:cNvSpPr>
            <a:spLocks/>
          </p:cNvSpPr>
          <p:nvPr/>
        </p:nvSpPr>
        <p:spPr>
          <a:xfrm rot="0">
            <a:off x="5807075" y="3054350"/>
            <a:ext cx="4616448" cy="5302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Update equipment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84" name="Rectangle"/>
          <p:cNvSpPr>
            <a:spLocks/>
          </p:cNvSpPr>
          <p:nvPr/>
        </p:nvSpPr>
        <p:spPr>
          <a:xfrm rot="0">
            <a:off x="549275" y="3584575"/>
            <a:ext cx="9874251" cy="530224"/>
          </a:xfrm>
          <a:prstGeom prst="rect"/>
          <a:solidFill>
            <a:srgbClr val="FFFFFF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285" name="Rounded rectangle"/>
          <p:cNvSpPr>
            <a:spLocks/>
          </p:cNvSpPr>
          <p:nvPr/>
        </p:nvSpPr>
        <p:spPr>
          <a:xfrm rot="0">
            <a:off x="658813" y="3676650"/>
            <a:ext cx="1004887" cy="346075"/>
          </a:xfrm>
          <a:prstGeom prst="roundRect">
            <a:avLst>
              <a:gd name="adj" fmla="val 15787"/>
            </a:avLst>
          </a:prstGeom>
          <a:solidFill>
            <a:srgbClr val="C0392B"/>
          </a:solidFill>
          <a:ln w="12700" cmpd="sng" cap="flat">
            <a:noFill/>
            <a:prstDash val="solid"/>
            <a:round/>
          </a:ln>
        </p:spPr>
      </p:sp>
      <p:sp>
        <p:nvSpPr>
          <p:cNvPr id="286" name="Rectangle"/>
          <p:cNvSpPr>
            <a:spLocks/>
          </p:cNvSpPr>
          <p:nvPr/>
        </p:nvSpPr>
        <p:spPr>
          <a:xfrm rot="0">
            <a:off x="658813" y="3676650"/>
            <a:ext cx="1004887" cy="3460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DELETE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87" name="Rectangle"/>
          <p:cNvSpPr>
            <a:spLocks/>
          </p:cNvSpPr>
          <p:nvPr/>
        </p:nvSpPr>
        <p:spPr>
          <a:xfrm rot="0">
            <a:off x="1874838" y="3584575"/>
            <a:ext cx="3840162" cy="5302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21295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/api/equipment/{id}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88" name="Rectangle"/>
          <p:cNvSpPr>
            <a:spLocks/>
          </p:cNvSpPr>
          <p:nvPr/>
        </p:nvSpPr>
        <p:spPr>
          <a:xfrm rot="0">
            <a:off x="5807075" y="3584575"/>
            <a:ext cx="4616448" cy="5302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Deactivate equipment (isActive = false)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89" name="Rectangle"/>
          <p:cNvSpPr>
            <a:spLocks/>
          </p:cNvSpPr>
          <p:nvPr/>
        </p:nvSpPr>
        <p:spPr>
          <a:xfrm rot="0">
            <a:off x="549275" y="4114800"/>
            <a:ext cx="9874251" cy="530224"/>
          </a:xfrm>
          <a:prstGeom prst="rect"/>
          <a:solidFill>
            <a:srgbClr val="E9F1F4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290" name="Rounded rectangle"/>
          <p:cNvSpPr>
            <a:spLocks/>
          </p:cNvSpPr>
          <p:nvPr/>
        </p:nvSpPr>
        <p:spPr>
          <a:xfrm rot="0">
            <a:off x="658813" y="4206875"/>
            <a:ext cx="1004887" cy="346075"/>
          </a:xfrm>
          <a:prstGeom prst="roundRect">
            <a:avLst>
              <a:gd name="adj" fmla="val 15787"/>
            </a:avLst>
          </a:prstGeom>
          <a:solidFill>
            <a:srgbClr val="1E8A5F"/>
          </a:solidFill>
          <a:ln w="12700" cmpd="sng" cap="flat">
            <a:noFill/>
            <a:prstDash val="solid"/>
            <a:round/>
          </a:ln>
        </p:spPr>
      </p:sp>
      <p:sp>
        <p:nvSpPr>
          <p:cNvPr id="291" name="Rectangle"/>
          <p:cNvSpPr>
            <a:spLocks/>
          </p:cNvSpPr>
          <p:nvPr/>
        </p:nvSpPr>
        <p:spPr>
          <a:xfrm rot="0">
            <a:off x="658813" y="4206875"/>
            <a:ext cx="1004887" cy="3460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GET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92" name="Rectangle"/>
          <p:cNvSpPr>
            <a:spLocks/>
          </p:cNvSpPr>
          <p:nvPr/>
        </p:nvSpPr>
        <p:spPr>
          <a:xfrm rot="0">
            <a:off x="1874838" y="4114800"/>
            <a:ext cx="3840162" cy="5302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21295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/api/laboratories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93" name="Rectangle"/>
          <p:cNvSpPr>
            <a:spLocks/>
          </p:cNvSpPr>
          <p:nvPr/>
        </p:nvSpPr>
        <p:spPr>
          <a:xfrm rot="0">
            <a:off x="5807075" y="4114800"/>
            <a:ext cx="4616448" cy="5302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Get all laboratories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94" name="Rectangle"/>
          <p:cNvSpPr>
            <a:spLocks/>
          </p:cNvSpPr>
          <p:nvPr/>
        </p:nvSpPr>
        <p:spPr>
          <a:xfrm rot="0">
            <a:off x="549275" y="4645025"/>
            <a:ext cx="9874251" cy="530223"/>
          </a:xfrm>
          <a:prstGeom prst="rect"/>
          <a:solidFill>
            <a:srgbClr val="FFFFFF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295" name="Rounded rectangle"/>
          <p:cNvSpPr>
            <a:spLocks/>
          </p:cNvSpPr>
          <p:nvPr/>
        </p:nvSpPr>
        <p:spPr>
          <a:xfrm rot="0">
            <a:off x="658813" y="4737100"/>
            <a:ext cx="1004887" cy="347662"/>
          </a:xfrm>
          <a:prstGeom prst="roundRect">
            <a:avLst>
              <a:gd name="adj" fmla="val 15787"/>
            </a:avLst>
          </a:prstGeom>
          <a:solidFill>
            <a:srgbClr val="1E8A5F"/>
          </a:solidFill>
          <a:ln w="12700" cmpd="sng" cap="flat">
            <a:noFill/>
            <a:prstDash val="solid"/>
            <a:round/>
          </a:ln>
        </p:spPr>
      </p:sp>
      <p:sp>
        <p:nvSpPr>
          <p:cNvPr id="296" name="Rectangle"/>
          <p:cNvSpPr>
            <a:spLocks/>
          </p:cNvSpPr>
          <p:nvPr/>
        </p:nvSpPr>
        <p:spPr>
          <a:xfrm rot="0">
            <a:off x="658813" y="4737100"/>
            <a:ext cx="1004887" cy="3476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GET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97" name="Rectangle"/>
          <p:cNvSpPr>
            <a:spLocks/>
          </p:cNvSpPr>
          <p:nvPr/>
        </p:nvSpPr>
        <p:spPr>
          <a:xfrm rot="0">
            <a:off x="1874838" y="4645025"/>
            <a:ext cx="3840162" cy="53022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21295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/api/reservations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98" name="Rectangle"/>
          <p:cNvSpPr>
            <a:spLocks/>
          </p:cNvSpPr>
          <p:nvPr/>
        </p:nvSpPr>
        <p:spPr>
          <a:xfrm rot="0">
            <a:off x="5807075" y="4645025"/>
            <a:ext cx="4616448" cy="530223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Get all reservations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299" name="Rectangle"/>
          <p:cNvSpPr>
            <a:spLocks/>
          </p:cNvSpPr>
          <p:nvPr/>
        </p:nvSpPr>
        <p:spPr>
          <a:xfrm rot="0">
            <a:off x="549275" y="5175250"/>
            <a:ext cx="9874251" cy="530225"/>
          </a:xfrm>
          <a:prstGeom prst="rect"/>
          <a:solidFill>
            <a:srgbClr val="E9F1F4"/>
          </a:solidFill>
          <a:ln w="6350" cmpd="sng" cap="flat">
            <a:solidFill>
              <a:srgbClr val="DCE7EC"/>
            </a:solidFill>
            <a:prstDash val="solid"/>
            <a:miter/>
          </a:ln>
        </p:spPr>
      </p:sp>
      <p:sp>
        <p:nvSpPr>
          <p:cNvPr id="300" name="Rounded rectangle"/>
          <p:cNvSpPr>
            <a:spLocks/>
          </p:cNvSpPr>
          <p:nvPr/>
        </p:nvSpPr>
        <p:spPr>
          <a:xfrm rot="0">
            <a:off x="658813" y="5267325"/>
            <a:ext cx="1004887" cy="347663"/>
          </a:xfrm>
          <a:prstGeom prst="roundRect">
            <a:avLst>
              <a:gd name="adj" fmla="val 15787"/>
            </a:avLst>
          </a:prstGeom>
          <a:solidFill>
            <a:srgbClr val="065A82"/>
          </a:solidFill>
          <a:ln w="12700" cmpd="sng" cap="flat">
            <a:noFill/>
            <a:prstDash val="solid"/>
            <a:round/>
          </a:ln>
        </p:spPr>
      </p:sp>
      <p:sp>
        <p:nvSpPr>
          <p:cNvPr id="301" name="Rectangle"/>
          <p:cNvSpPr>
            <a:spLocks/>
          </p:cNvSpPr>
          <p:nvPr/>
        </p:nvSpPr>
        <p:spPr>
          <a:xfrm rot="0">
            <a:off x="658813" y="5267325"/>
            <a:ext cx="1004887" cy="3476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POST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302" name="Rectangle"/>
          <p:cNvSpPr>
            <a:spLocks/>
          </p:cNvSpPr>
          <p:nvPr/>
        </p:nvSpPr>
        <p:spPr>
          <a:xfrm rot="0">
            <a:off x="1874838" y="5175250"/>
            <a:ext cx="3840162" cy="5302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21295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/api/maintenance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303" name="Rectangle"/>
          <p:cNvSpPr>
            <a:spLocks/>
          </p:cNvSpPr>
          <p:nvPr/>
        </p:nvSpPr>
        <p:spPr>
          <a:xfrm rot="0">
            <a:off x="5807075" y="5175250"/>
            <a:ext cx="4616448" cy="5302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Add maintenance record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304" name="Rectangle"/>
          <p:cNvSpPr>
            <a:spLocks/>
          </p:cNvSpPr>
          <p:nvPr/>
        </p:nvSpPr>
        <p:spPr>
          <a:xfrm rot="0">
            <a:off x="457200" y="6492875"/>
            <a:ext cx="54864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Healthcare Equipment System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305" name="Rectangle"/>
          <p:cNvSpPr>
            <a:spLocks/>
          </p:cNvSpPr>
          <p:nvPr/>
        </p:nvSpPr>
        <p:spPr>
          <a:xfrm rot="0">
            <a:off x="11277600" y="6492875"/>
            <a:ext cx="4572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10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055714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"/>
          <p:cNvSpPr>
            <a:spLocks/>
          </p:cNvSpPr>
          <p:nvPr/>
        </p:nvSpPr>
        <p:spPr>
          <a:xfrm rot="0">
            <a:off x="549275" y="365124"/>
            <a:ext cx="10058401" cy="5492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18" charset="0"/>
                <a:ea typeface="宋体" pitchFamily="0" charset="0"/>
                <a:cs typeface="Arial" pitchFamily="34" charset="0"/>
              </a:rPr>
              <a:t>Technology Stack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310" name="Rectangle"/>
          <p:cNvSpPr>
            <a:spLocks/>
          </p:cNvSpPr>
          <p:nvPr/>
        </p:nvSpPr>
        <p:spPr>
          <a:xfrm rot="0">
            <a:off x="549275" y="895349"/>
            <a:ext cx="10058401" cy="32067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Tools and technologies used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311" name="Rounded rectangle"/>
          <p:cNvSpPr>
            <a:spLocks/>
          </p:cNvSpPr>
          <p:nvPr/>
        </p:nvSpPr>
        <p:spPr>
          <a:xfrm rot="0">
            <a:off x="549275" y="1508125"/>
            <a:ext cx="1690688" cy="1417637"/>
          </a:xfrm>
          <a:prstGeom prst="roundRect">
            <a:avLst>
              <a:gd name="adj" fmla="val 6453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50800" dist="25400" dir="5400000">
              <a:srgbClr val="5A6B7A">
                <a:alpha val="14509"/>
              </a:srgbClr>
            </a:outerShdw>
          </a:effectLst>
        </p:spPr>
      </p:sp>
      <p:sp>
        <p:nvSpPr>
          <p:cNvPr id="312" name="Oval"/>
          <p:cNvSpPr>
            <a:spLocks/>
          </p:cNvSpPr>
          <p:nvPr/>
        </p:nvSpPr>
        <p:spPr>
          <a:xfrm rot="0">
            <a:off x="1101725" y="1692275"/>
            <a:ext cx="585788" cy="584199"/>
          </a:xfrm>
          <a:prstGeom prst="ellipse"/>
          <a:solidFill>
            <a:srgbClr val="C0392B"/>
          </a:solidFill>
          <a:ln w="12700" cmpd="sng" cap="flat">
            <a:noFill/>
            <a:prstDash val="solid"/>
            <a:round/>
          </a:ln>
        </p:spPr>
      </p:sp>
      <p:pic>
        <p:nvPicPr>
          <p:cNvPr id="313" name="Image" descr="icon_java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230313" y="1819275"/>
            <a:ext cx="328612" cy="330198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14" name="Rectangle"/>
          <p:cNvSpPr>
            <a:spLocks/>
          </p:cNvSpPr>
          <p:nvPr/>
        </p:nvSpPr>
        <p:spPr>
          <a:xfrm rot="0">
            <a:off x="593725" y="2422525"/>
            <a:ext cx="1600200" cy="4127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Java 17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315" name="Rounded rectangle"/>
          <p:cNvSpPr>
            <a:spLocks/>
          </p:cNvSpPr>
          <p:nvPr/>
        </p:nvSpPr>
        <p:spPr>
          <a:xfrm rot="0">
            <a:off x="2468562" y="1508125"/>
            <a:ext cx="1692275" cy="1417637"/>
          </a:xfrm>
          <a:prstGeom prst="roundRect">
            <a:avLst>
              <a:gd name="adj" fmla="val 6453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50800" dist="25400" dir="5400000">
              <a:srgbClr val="5A6B7A">
                <a:alpha val="14509"/>
              </a:srgbClr>
            </a:outerShdw>
          </a:effectLst>
        </p:spPr>
      </p:sp>
      <p:sp>
        <p:nvSpPr>
          <p:cNvPr id="316" name="Oval"/>
          <p:cNvSpPr>
            <a:spLocks/>
          </p:cNvSpPr>
          <p:nvPr/>
        </p:nvSpPr>
        <p:spPr>
          <a:xfrm rot="0">
            <a:off x="3022600" y="1692275"/>
            <a:ext cx="584199" cy="584199"/>
          </a:xfrm>
          <a:prstGeom prst="ellipse"/>
          <a:solidFill>
            <a:srgbClr val="1E8A5F"/>
          </a:solidFill>
          <a:ln w="12700" cmpd="sng" cap="flat">
            <a:noFill/>
            <a:prstDash val="solid"/>
            <a:round/>
          </a:ln>
        </p:spPr>
      </p:sp>
      <p:pic>
        <p:nvPicPr>
          <p:cNvPr id="317" name="Image" descr="icon_cog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3149600" y="1819275"/>
            <a:ext cx="330200" cy="330198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18" name="Rectangle"/>
          <p:cNvSpPr>
            <a:spLocks/>
          </p:cNvSpPr>
          <p:nvPr/>
        </p:nvSpPr>
        <p:spPr>
          <a:xfrm rot="0">
            <a:off x="2514600" y="2422525"/>
            <a:ext cx="1600200" cy="4127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Spring Boot 3.x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319" name="Rounded rectangle"/>
          <p:cNvSpPr>
            <a:spLocks/>
          </p:cNvSpPr>
          <p:nvPr/>
        </p:nvSpPr>
        <p:spPr>
          <a:xfrm rot="0">
            <a:off x="4389438" y="1508125"/>
            <a:ext cx="1690685" cy="1417637"/>
          </a:xfrm>
          <a:prstGeom prst="roundRect">
            <a:avLst>
              <a:gd name="adj" fmla="val 6453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50800" dist="25400" dir="5400000">
              <a:srgbClr val="5A6B7A">
                <a:alpha val="14509"/>
              </a:srgbClr>
            </a:outerShdw>
          </a:effectLst>
        </p:spPr>
      </p:sp>
      <p:sp>
        <p:nvSpPr>
          <p:cNvPr id="320" name="Oval"/>
          <p:cNvSpPr>
            <a:spLocks/>
          </p:cNvSpPr>
          <p:nvPr/>
        </p:nvSpPr>
        <p:spPr>
          <a:xfrm rot="0">
            <a:off x="4941888" y="1692275"/>
            <a:ext cx="585786" cy="584199"/>
          </a:xfrm>
          <a:prstGeom prst="ellipse"/>
          <a:solidFill>
            <a:srgbClr val="1C7293"/>
          </a:solidFill>
          <a:ln w="12700" cmpd="sng" cap="flat">
            <a:noFill/>
            <a:prstDash val="solid"/>
            <a:round/>
          </a:ln>
        </p:spPr>
      </p:sp>
      <p:pic>
        <p:nvPicPr>
          <p:cNvPr id="321" name="Image" descr="icon_databas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5070475" y="1819275"/>
            <a:ext cx="328613" cy="330198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22" name="Rectangle"/>
          <p:cNvSpPr>
            <a:spLocks/>
          </p:cNvSpPr>
          <p:nvPr/>
        </p:nvSpPr>
        <p:spPr>
          <a:xfrm rot="0">
            <a:off x="4435475" y="2422525"/>
            <a:ext cx="1600199" cy="4127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Spring Data JPA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323" name="Rounded rectangle"/>
          <p:cNvSpPr>
            <a:spLocks/>
          </p:cNvSpPr>
          <p:nvPr/>
        </p:nvSpPr>
        <p:spPr>
          <a:xfrm rot="0">
            <a:off x="6308724" y="1508125"/>
            <a:ext cx="1692275" cy="1417637"/>
          </a:xfrm>
          <a:prstGeom prst="roundRect">
            <a:avLst>
              <a:gd name="adj" fmla="val 6453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50800" dist="25400" dir="5400000">
              <a:srgbClr val="5A6B7A">
                <a:alpha val="14509"/>
              </a:srgbClr>
            </a:outerShdw>
          </a:effectLst>
        </p:spPr>
      </p:sp>
      <p:sp>
        <p:nvSpPr>
          <p:cNvPr id="324" name="Oval"/>
          <p:cNvSpPr>
            <a:spLocks/>
          </p:cNvSpPr>
          <p:nvPr/>
        </p:nvSpPr>
        <p:spPr>
          <a:xfrm rot="0">
            <a:off x="6862763" y="1692275"/>
            <a:ext cx="585787" cy="584199"/>
          </a:xfrm>
          <a:prstGeom prst="ellipse"/>
          <a:solidFill>
            <a:srgbClr val="065A82"/>
          </a:solidFill>
          <a:ln w="12700" cmpd="sng" cap="flat">
            <a:noFill/>
            <a:prstDash val="solid"/>
            <a:round/>
          </a:ln>
        </p:spPr>
      </p:sp>
      <p:pic>
        <p:nvPicPr>
          <p:cNvPr id="325" name="Image" descr="icon_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991350" y="1819275"/>
            <a:ext cx="328612" cy="330198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26" name="Rectangle"/>
          <p:cNvSpPr>
            <a:spLocks/>
          </p:cNvSpPr>
          <p:nvPr/>
        </p:nvSpPr>
        <p:spPr>
          <a:xfrm rot="0">
            <a:off x="6354762" y="2422525"/>
            <a:ext cx="1600200" cy="4127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MySQL 8.0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327" name="Rounded rectangle"/>
          <p:cNvSpPr>
            <a:spLocks/>
          </p:cNvSpPr>
          <p:nvPr/>
        </p:nvSpPr>
        <p:spPr>
          <a:xfrm rot="0">
            <a:off x="8229600" y="1508125"/>
            <a:ext cx="1692275" cy="1417637"/>
          </a:xfrm>
          <a:prstGeom prst="roundRect">
            <a:avLst>
              <a:gd name="adj" fmla="val 6453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50800" dist="25400" dir="5400000">
              <a:srgbClr val="5A6B7A">
                <a:alpha val="14509"/>
              </a:srgbClr>
            </a:outerShdw>
          </a:effectLst>
        </p:spPr>
      </p:sp>
      <p:sp>
        <p:nvSpPr>
          <p:cNvPr id="328" name="Oval"/>
          <p:cNvSpPr>
            <a:spLocks/>
          </p:cNvSpPr>
          <p:nvPr/>
        </p:nvSpPr>
        <p:spPr>
          <a:xfrm rot="0">
            <a:off x="8782050" y="1692275"/>
            <a:ext cx="585786" cy="584199"/>
          </a:xfrm>
          <a:prstGeom prst="ellipse"/>
          <a:solidFill>
            <a:srgbClr val="C9822B"/>
          </a:solidFill>
          <a:ln w="12700" cmpd="sng" cap="flat">
            <a:noFill/>
            <a:prstDash val="solid"/>
            <a:round/>
          </a:ln>
        </p:spPr>
      </p:sp>
      <p:pic>
        <p:nvPicPr>
          <p:cNvPr id="329" name="Image" descr="icon_cogs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8910638" y="1819275"/>
            <a:ext cx="328612" cy="330198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30" name="Rectangle"/>
          <p:cNvSpPr>
            <a:spLocks/>
          </p:cNvSpPr>
          <p:nvPr/>
        </p:nvSpPr>
        <p:spPr>
          <a:xfrm rot="0">
            <a:off x="8275638" y="2422525"/>
            <a:ext cx="1600199" cy="4127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Maven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331" name="Rounded rectangle"/>
          <p:cNvSpPr>
            <a:spLocks/>
          </p:cNvSpPr>
          <p:nvPr/>
        </p:nvSpPr>
        <p:spPr>
          <a:xfrm rot="0">
            <a:off x="10150474" y="1508125"/>
            <a:ext cx="1690688" cy="1417637"/>
          </a:xfrm>
          <a:prstGeom prst="roundRect">
            <a:avLst>
              <a:gd name="adj" fmla="val 6453"/>
            </a:avLst>
          </a:prstGeom>
          <a:solidFill>
            <a:srgbClr val="FFFFFF"/>
          </a:solidFill>
          <a:ln w="12700" cmpd="sng" cap="flat">
            <a:solidFill>
              <a:srgbClr val="DCE7EC"/>
            </a:solidFill>
            <a:prstDash val="solid"/>
            <a:round/>
          </a:ln>
          <a:effectLst>
            <a:outerShdw sx="100000" sy="100000" algn="bl" rotWithShape="0" blurRad="50800" dist="25400" dir="5400000">
              <a:srgbClr val="5A6B7A">
                <a:alpha val="14509"/>
              </a:srgbClr>
            </a:outerShdw>
          </a:effectLst>
        </p:spPr>
      </p:sp>
      <p:sp>
        <p:nvSpPr>
          <p:cNvPr id="332" name="Oval"/>
          <p:cNvSpPr>
            <a:spLocks/>
          </p:cNvSpPr>
          <p:nvPr/>
        </p:nvSpPr>
        <p:spPr>
          <a:xfrm rot="0">
            <a:off x="10702926" y="1692275"/>
            <a:ext cx="585786" cy="584199"/>
          </a:xfrm>
          <a:prstGeom prst="ellipse"/>
          <a:solidFill>
            <a:srgbClr val="0DB7ED"/>
          </a:solidFill>
          <a:ln w="12700" cmpd="sng" cap="flat">
            <a:noFill/>
            <a:prstDash val="solid"/>
            <a:round/>
          </a:ln>
        </p:spPr>
      </p:sp>
      <p:pic>
        <p:nvPicPr>
          <p:cNvPr id="333" name="Image" descr="icon_docker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10831512" y="1819275"/>
            <a:ext cx="328612" cy="330198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34" name="Rectangle"/>
          <p:cNvSpPr>
            <a:spLocks/>
          </p:cNvSpPr>
          <p:nvPr/>
        </p:nvSpPr>
        <p:spPr>
          <a:xfrm rot="0">
            <a:off x="10194925" y="2422525"/>
            <a:ext cx="1600200" cy="4127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Docker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335" name="Rounded rectangle"/>
          <p:cNvSpPr>
            <a:spLocks/>
          </p:cNvSpPr>
          <p:nvPr/>
        </p:nvSpPr>
        <p:spPr>
          <a:xfrm rot="0">
            <a:off x="764934" y="4065948"/>
            <a:ext cx="10377488" cy="1462087"/>
          </a:xfrm>
          <a:prstGeom prst="roundRect">
            <a:avLst>
              <a:gd name="adj" fmla="val 6250"/>
            </a:avLst>
          </a:prstGeom>
          <a:solidFill>
            <a:srgbClr val="21295C"/>
          </a:solidFill>
          <a:ln w="12700" cmpd="sng" cap="flat">
            <a:noFill/>
            <a:prstDash val="solid"/>
            <a:round/>
          </a:ln>
        </p:spPr>
      </p:sp>
      <p:sp>
        <p:nvSpPr>
          <p:cNvPr id="336" name="Rectangle"/>
          <p:cNvSpPr>
            <a:spLocks/>
          </p:cNvSpPr>
          <p:nvPr/>
        </p:nvSpPr>
        <p:spPr>
          <a:xfrm rot="0">
            <a:off x="1037985" y="4087454"/>
            <a:ext cx="9785350" cy="32067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0A89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Supporting tools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337" name="Rectangle"/>
          <p:cNvSpPr>
            <a:spLocks/>
          </p:cNvSpPr>
          <p:nvPr/>
        </p:nvSpPr>
        <p:spPr>
          <a:xfrm rot="0">
            <a:off x="1598703" y="4441107"/>
            <a:ext cx="10360445" cy="684481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  •</a:t>
            </a: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IntelliJ IDEA        •   Postman           •   MySQL Workbench                      •   Git &amp; GitHub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338" name="Rectangle"/>
          <p:cNvSpPr>
            <a:spLocks/>
          </p:cNvSpPr>
          <p:nvPr/>
        </p:nvSpPr>
        <p:spPr>
          <a:xfrm rot="0">
            <a:off x="457200" y="6492875"/>
            <a:ext cx="54864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Healthcare Equipment System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339" name="Rectangle"/>
          <p:cNvSpPr>
            <a:spLocks/>
          </p:cNvSpPr>
          <p:nvPr/>
        </p:nvSpPr>
        <p:spPr>
          <a:xfrm rot="0">
            <a:off x="11277600" y="6492875"/>
            <a:ext cx="4572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11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064775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Oval"/>
          <p:cNvSpPr>
            <a:spLocks/>
          </p:cNvSpPr>
          <p:nvPr/>
        </p:nvSpPr>
        <p:spPr>
          <a:xfrm rot="0">
            <a:off x="9875838" y="-1189038"/>
            <a:ext cx="4114800" cy="4114801"/>
          </a:xfrm>
          <a:prstGeom prst="ellipse"/>
          <a:solidFill>
            <a:srgbClr val="065A82">
              <a:alpha val="45000"/>
            </a:srgbClr>
          </a:solidFill>
          <a:ln w="12700" cmpd="sng" cap="flat">
            <a:noFill/>
            <a:prstDash val="solid"/>
            <a:round/>
          </a:ln>
        </p:spPr>
      </p:sp>
      <p:sp>
        <p:nvSpPr>
          <p:cNvPr id="344" name="Oval"/>
          <p:cNvSpPr>
            <a:spLocks/>
          </p:cNvSpPr>
          <p:nvPr/>
        </p:nvSpPr>
        <p:spPr>
          <a:xfrm rot="0">
            <a:off x="-1279525" y="4572000"/>
            <a:ext cx="3473449" cy="3475038"/>
          </a:xfrm>
          <a:prstGeom prst="ellipse"/>
          <a:solidFill>
            <a:srgbClr val="1C7293">
              <a:alpha val="45000"/>
            </a:srgbClr>
          </a:solidFill>
          <a:ln w="12700" cmpd="sng" cap="flat">
            <a:noFill/>
            <a:prstDash val="solid"/>
            <a:round/>
          </a:ln>
        </p:spPr>
      </p:sp>
      <p:sp>
        <p:nvSpPr>
          <p:cNvPr id="345" name="Rectangle"/>
          <p:cNvSpPr>
            <a:spLocks/>
          </p:cNvSpPr>
          <p:nvPr/>
        </p:nvSpPr>
        <p:spPr>
          <a:xfrm rot="0">
            <a:off x="639763" y="822325"/>
            <a:ext cx="7315200" cy="6413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18" charset="0"/>
                <a:ea typeface="宋体" pitchFamily="0" charset="0"/>
                <a:cs typeface="Arial" pitchFamily="34" charset="0"/>
              </a:rPr>
              <a:t>Conclusion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346" name="Rectangle"/>
          <p:cNvSpPr>
            <a:spLocks/>
          </p:cNvSpPr>
          <p:nvPr/>
        </p:nvSpPr>
        <p:spPr>
          <a:xfrm rot="0">
            <a:off x="639763" y="1600200"/>
            <a:ext cx="7407275" cy="14636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CADCFC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The Healthcare Equipment System provides an efficient way to manage medical equipment, laboratories, reservations, and maintenance — with a scalable architecture, a soft-delete mechanism, and containerized deployment using Docker.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347" name="Oval"/>
          <p:cNvSpPr>
            <a:spLocks/>
          </p:cNvSpPr>
          <p:nvPr/>
        </p:nvSpPr>
        <p:spPr>
          <a:xfrm rot="0">
            <a:off x="639763" y="3382963"/>
            <a:ext cx="777875" cy="777875"/>
          </a:xfrm>
          <a:prstGeom prst="ellipse"/>
          <a:solidFill>
            <a:srgbClr val="00A896"/>
          </a:solidFill>
          <a:ln w="12700" cmpd="sng" cap="flat">
            <a:noFill/>
            <a:prstDash val="solid"/>
            <a:round/>
          </a:ln>
        </p:spPr>
      </p:sp>
      <p:pic>
        <p:nvPicPr>
          <p:cNvPr id="348" name="Image" descr="icon_shiel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804863" y="3548062"/>
            <a:ext cx="447674" cy="447674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49" name="Rectangle"/>
          <p:cNvSpPr>
            <a:spLocks/>
          </p:cNvSpPr>
          <p:nvPr/>
        </p:nvSpPr>
        <p:spPr>
          <a:xfrm rot="0">
            <a:off x="1600200" y="3429000"/>
            <a:ext cx="6583363" cy="8223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mbria" pitchFamily="18" charset="0"/>
                <a:ea typeface="宋体" pitchFamily="0" charset="0"/>
                <a:cs typeface="Arial" pitchFamily="34" charset="0"/>
              </a:rPr>
              <a:t>Reliable. Scalable. Maintainable.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  <a:p>
            <a:pPr marL="0" indent="0" algn="l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mbria" pitchFamily="18" charset="0"/>
                <a:ea typeface="宋体" pitchFamily="0" charset="0"/>
                <a:cs typeface="Arial" pitchFamily="34" charset="0"/>
              </a:rPr>
              <a:t>Built for Healthcare.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350" name="Rounded rectangle"/>
          <p:cNvSpPr>
            <a:spLocks/>
          </p:cNvSpPr>
          <p:nvPr/>
        </p:nvSpPr>
        <p:spPr>
          <a:xfrm rot="0">
            <a:off x="8412163" y="914400"/>
            <a:ext cx="3200400" cy="5121275"/>
          </a:xfrm>
          <a:prstGeom prst="roundRect">
            <a:avLst>
              <a:gd name="adj" fmla="val 3430"/>
            </a:avLst>
          </a:prstGeom>
          <a:solidFill>
            <a:srgbClr val="065A82">
              <a:alpha val="85000"/>
            </a:srgbClr>
          </a:solidFill>
          <a:ln w="12700" cmpd="sng" cap="flat">
            <a:solidFill>
              <a:srgbClr val="1C7293"/>
            </a:solidFill>
            <a:prstDash val="solid"/>
            <a:round/>
          </a:ln>
        </p:spPr>
      </p:sp>
      <p:pic>
        <p:nvPicPr>
          <p:cNvPr id="351" name="Image" descr="icon_chec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8640763" y="1216025"/>
            <a:ext cx="201610" cy="201611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52" name="Rectangle"/>
          <p:cNvSpPr>
            <a:spLocks/>
          </p:cNvSpPr>
          <p:nvPr/>
        </p:nvSpPr>
        <p:spPr>
          <a:xfrm rot="0">
            <a:off x="8942388" y="1162050"/>
            <a:ext cx="25146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Equipment Mgmt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pic>
        <p:nvPicPr>
          <p:cNvPr id="353" name="Image" descr="icon_che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8640763" y="1838325"/>
            <a:ext cx="201610" cy="200025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54" name="Rectangle"/>
          <p:cNvSpPr>
            <a:spLocks/>
          </p:cNvSpPr>
          <p:nvPr/>
        </p:nvSpPr>
        <p:spPr>
          <a:xfrm rot="0">
            <a:off x="8942388" y="1782763"/>
            <a:ext cx="2514600" cy="36671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Laboratory Mgmt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pic>
        <p:nvPicPr>
          <p:cNvPr id="355" name="Image" descr="icon_check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8640763" y="2459038"/>
            <a:ext cx="201610" cy="201611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56" name="Rectangle"/>
          <p:cNvSpPr>
            <a:spLocks/>
          </p:cNvSpPr>
          <p:nvPr/>
        </p:nvSpPr>
        <p:spPr>
          <a:xfrm rot="0">
            <a:off x="8942388" y="2405063"/>
            <a:ext cx="2514600" cy="3651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Reservations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pic>
        <p:nvPicPr>
          <p:cNvPr id="357" name="Image" descr="icon_check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8640763" y="3081338"/>
            <a:ext cx="201610" cy="201611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58" name="Rectangle"/>
          <p:cNvSpPr>
            <a:spLocks/>
          </p:cNvSpPr>
          <p:nvPr/>
        </p:nvSpPr>
        <p:spPr>
          <a:xfrm rot="0">
            <a:off x="8942388" y="3027363"/>
            <a:ext cx="25146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Maintenance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pic>
        <p:nvPicPr>
          <p:cNvPr id="359" name="Image" descr="icon_check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8640763" y="3703637"/>
            <a:ext cx="201610" cy="201611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60" name="Rectangle"/>
          <p:cNvSpPr>
            <a:spLocks/>
          </p:cNvSpPr>
          <p:nvPr/>
        </p:nvSpPr>
        <p:spPr>
          <a:xfrm rot="0">
            <a:off x="8942388" y="3648075"/>
            <a:ext cx="2514600" cy="366713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Soft Delete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pic>
        <p:nvPicPr>
          <p:cNvPr id="361" name="Image" descr="icon_check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8640763" y="4324350"/>
            <a:ext cx="201610" cy="201613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62" name="Rectangle"/>
          <p:cNvSpPr>
            <a:spLocks/>
          </p:cNvSpPr>
          <p:nvPr/>
        </p:nvSpPr>
        <p:spPr>
          <a:xfrm rot="0">
            <a:off x="8942388" y="4270375"/>
            <a:ext cx="25146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REST API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pic>
        <p:nvPicPr>
          <p:cNvPr id="363" name="Image" descr="icon_check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0">
            <a:off x="8640763" y="4946650"/>
            <a:ext cx="201610" cy="201613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64" name="Rectangle"/>
          <p:cNvSpPr>
            <a:spLocks/>
          </p:cNvSpPr>
          <p:nvPr/>
        </p:nvSpPr>
        <p:spPr>
          <a:xfrm rot="0">
            <a:off x="8942388" y="4892675"/>
            <a:ext cx="25146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Docker Deploy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365" name="Rectangle"/>
          <p:cNvSpPr>
            <a:spLocks/>
          </p:cNvSpPr>
          <p:nvPr/>
        </p:nvSpPr>
        <p:spPr>
          <a:xfrm rot="0">
            <a:off x="457200" y="6492875"/>
            <a:ext cx="54864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Healthcare Equipment System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366" name="Rectangle"/>
          <p:cNvSpPr>
            <a:spLocks/>
          </p:cNvSpPr>
          <p:nvPr/>
        </p:nvSpPr>
        <p:spPr>
          <a:xfrm rot="0">
            <a:off x="11277600" y="6492875"/>
            <a:ext cx="457200" cy="27305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A6B7A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12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985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32</TotalTime>
  <Application>Office</Applicat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subject>PptxGenJS Presentation</dc:subject>
  <dc:creator>PptxGenJS</dc:creator>
  <cp:lastModifiedBy>Mobile phone user</cp:lastModifiedBy>
  <cp:revision>138</cp:revision>
  <dcterms:created xsi:type="dcterms:W3CDTF">2026-07-31T18:00:55Z</dcterms:created>
  <dcterms:modified xsi:type="dcterms:W3CDTF">2026-08-05T13:32:53Z</dcterms:modified>
</cp:coreProperties>
</file>